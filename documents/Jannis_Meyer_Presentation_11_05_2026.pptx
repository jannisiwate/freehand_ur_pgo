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284242785" r:id="rId4"/>
  </p:sldMasterIdLst>
  <p:notesMasterIdLst>
    <p:notesMasterId r:id="rId23"/>
  </p:notesMasterIdLst>
  <p:sldIdLst>
    <p:sldId id="256" r:id="rId5"/>
    <p:sldId id="275" r:id="rId6"/>
    <p:sldId id="277" r:id="rId7"/>
    <p:sldId id="291" r:id="rId8"/>
    <p:sldId id="278" r:id="rId9"/>
    <p:sldId id="280" r:id="rId10"/>
    <p:sldId id="279" r:id="rId11"/>
    <p:sldId id="281" r:id="rId12"/>
    <p:sldId id="282" r:id="rId13"/>
    <p:sldId id="284" r:id="rId14"/>
    <p:sldId id="285" r:id="rId15"/>
    <p:sldId id="283" r:id="rId16"/>
    <p:sldId id="286" r:id="rId17"/>
    <p:sldId id="287" r:id="rId18"/>
    <p:sldId id="288" r:id="rId19"/>
    <p:sldId id="276" r:id="rId20"/>
    <p:sldId id="289" r:id="rId21"/>
    <p:sldId id="290" r:id="rId22"/>
  </p:sldIdLst>
  <p:sldSz cx="9144000" cy="5143500" type="screen16x9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78694-1E1C-66CA-0E75-1DD917A87028}" v="16" dt="2026-04-20T05:11:42.250"/>
    <p1510:client id="{090E6414-710A-A14B-BA3F-16AC7C122D1A}" v="3" dt="2026-04-19T13:11:33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34" d="100"/>
          <a:sy n="134" d="100"/>
        </p:scale>
        <p:origin x="16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98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28575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0" y="0"/>
            <a:ext cx="7315200" cy="2700338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endParaRPr dirty="0">
              <a:latin typeface="Abadi" panose="020B0604020104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316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for title"/>
          <p:cNvSpPr>
            <a:spLocks noGrp="1"/>
          </p:cNvSpPr>
          <p:nvPr>
            <p:ph type="title"/>
          </p:nvPr>
        </p:nvSpPr>
        <p:spPr>
          <a:xfrm>
            <a:off x="333375" y="1714500"/>
            <a:ext cx="8477250" cy="857250"/>
          </a:xfrm>
          <a:prstGeom prst="rect">
            <a:avLst/>
          </a:prstGeom>
          <a:noFill/>
        </p:spPr>
        <p:txBody>
          <a:bodyPr lIns="91440" tIns="45720" rIns="91440" bIns="45720" rtlCol="0" anchor="b">
            <a:normAutofit/>
          </a:bodyPr>
          <a:lstStyle>
            <a:lvl1pPr algn="ctr">
              <a:defRPr sz="320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sp>
        <p:nvSpPr>
          <p:cNvPr id="2" name="Placeholder for subTitle"/>
          <p:cNvSpPr>
            <a:spLocks noGrp="1"/>
          </p:cNvSpPr>
          <p:nvPr>
            <p:ph type="subTitle" idx="1"/>
          </p:nvPr>
        </p:nvSpPr>
        <p:spPr>
          <a:xfrm>
            <a:off x="333375" y="2667000"/>
            <a:ext cx="8477250" cy="476250"/>
          </a:xfrm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 algn="ctr">
              <a:buNone/>
              <a:defRPr sz="240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dirty="0"/>
              <a:t>Click to edit master subtitle style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F2F130D-C690-83C2-6924-37FD2AB42E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794" y="21252"/>
            <a:ext cx="857250" cy="85725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D33E7D0-000F-827E-D967-EB3DD67E4F07}"/>
              </a:ext>
            </a:extLst>
          </p:cNvPr>
          <p:cNvSpPr/>
          <p:nvPr userDrawn="1"/>
        </p:nvSpPr>
        <p:spPr>
          <a:xfrm>
            <a:off x="8532440" y="4659982"/>
            <a:ext cx="43204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52C3BEFA-417A-1441-26BB-00A8491D7FF5}"/>
              </a:ext>
            </a:extLst>
          </p:cNvPr>
          <p:cNvSpPr/>
          <p:nvPr userDrawn="1"/>
        </p:nvSpPr>
        <p:spPr>
          <a:xfrm>
            <a:off x="539553" y="0"/>
            <a:ext cx="8604448" cy="937052"/>
          </a:xfrm>
          <a:custGeom>
            <a:avLst/>
            <a:gdLst>
              <a:gd name="connsiteX0" fmla="*/ 54054 w 8153211"/>
              <a:gd name="connsiteY0" fmla="*/ 0 h 936104"/>
              <a:gd name="connsiteX1" fmla="*/ 8153211 w 8153211"/>
              <a:gd name="connsiteY1" fmla="*/ 0 h 936104"/>
              <a:gd name="connsiteX2" fmla="*/ 8153211 w 8153211"/>
              <a:gd name="connsiteY2" fmla="*/ 936104 h 936104"/>
              <a:gd name="connsiteX3" fmla="*/ 0 w 8153211"/>
              <a:gd name="connsiteY3" fmla="*/ 936104 h 936104"/>
              <a:gd name="connsiteX4" fmla="*/ 42843 w 8153211"/>
              <a:gd name="connsiteY4" fmla="*/ 922805 h 936104"/>
              <a:gd name="connsiteX5" fmla="*/ 350698 w 8153211"/>
              <a:gd name="connsiteY5" fmla="*/ 458360 h 936104"/>
              <a:gd name="connsiteX6" fmla="*/ 128465 w 8153211"/>
              <a:gd name="connsiteY6" fmla="*/ 40389 h 936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153211" h="936104">
                <a:moveTo>
                  <a:pt x="54054" y="0"/>
                </a:moveTo>
                <a:lnTo>
                  <a:pt x="8153211" y="0"/>
                </a:lnTo>
                <a:lnTo>
                  <a:pt x="8153211" y="936104"/>
                </a:lnTo>
                <a:lnTo>
                  <a:pt x="0" y="936104"/>
                </a:lnTo>
                <a:lnTo>
                  <a:pt x="42843" y="922805"/>
                </a:lnTo>
                <a:cubicBezTo>
                  <a:pt x="223757" y="846285"/>
                  <a:pt x="350698" y="667147"/>
                  <a:pt x="350698" y="458360"/>
                </a:cubicBezTo>
                <a:cubicBezTo>
                  <a:pt x="350698" y="284371"/>
                  <a:pt x="262544" y="130972"/>
                  <a:pt x="128465" y="40389"/>
                </a:cubicBezTo>
                <a:close/>
              </a:path>
            </a:pathLst>
          </a:custGeom>
          <a:gradFill flip="none" rotWithShape="1">
            <a:gsLst>
              <a:gs pos="0">
                <a:srgbClr val="00B0F0"/>
              </a:gs>
              <a:gs pos="100000">
                <a:srgbClr val="00B0F0">
                  <a:alpha val="0"/>
                </a:srgbClr>
              </a:gs>
              <a:gs pos="36000">
                <a:srgbClr val="00B0F0">
                  <a:alpha val="67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46088" indent="0" algn="just">
              <a:tabLst/>
            </a:pPr>
            <a:endParaRPr kumimoji="1" lang="ja-JP" alt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57365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for body"/>
          <p:cNvSpPr>
            <a:spLocks noGrp="1"/>
          </p:cNvSpPr>
          <p:nvPr>
            <p:ph type="body" hasCustomPrompt="1"/>
          </p:nvPr>
        </p:nvSpPr>
        <p:spPr>
          <a:xfrm>
            <a:off x="133749" y="707816"/>
            <a:ext cx="8832299" cy="3959434"/>
          </a:xfrm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>
              <a:buSzPct val="100000"/>
              <a:buFont typeface="Arial" panose="020B0604020202020204" pitchFamily="34" charset="0"/>
              <a:buChar char="•"/>
              <a:defRPr/>
            </a:lvl1pPr>
            <a:lvl2pPr>
              <a:buSzPct val="100000"/>
              <a:buFont typeface="Arial" panose="020B0604020202020204" pitchFamily="34" charset="0"/>
              <a:buChar char="•"/>
              <a:defRPr/>
            </a:lvl2pPr>
            <a:lvl3pPr>
              <a:buSzPct val="100000"/>
              <a:buFont typeface="Arial" panose="020B0604020202020204" pitchFamily="34" charset="0"/>
              <a:buChar char="•"/>
              <a:defRPr/>
            </a:lvl3pPr>
            <a:lvl4pPr>
              <a:buSzPct val="100000"/>
              <a:buFont typeface="Arial" panose="020B0604020202020204" pitchFamily="34" charset="0"/>
              <a:buChar char="•"/>
              <a:defRPr/>
            </a:lvl4pPr>
            <a:lvl5pPr>
              <a:buSzPct val="100000"/>
              <a:buFont typeface="Arial" panose="020B0604020202020204" pitchFamily="34" charset="0"/>
              <a:buChar char="•"/>
              <a:defRPr/>
            </a:lvl5pPr>
            <a:lvl6pPr>
              <a:buSzPct val="100000"/>
              <a:buFont typeface="Arial" panose="020B0604020202020204" pitchFamily="34" charset="0"/>
              <a:buChar char="•"/>
              <a:defRPr/>
            </a:lvl6pPr>
            <a:lvl7pPr>
              <a:buSzPct val="100000"/>
              <a:buFont typeface="Arial" panose="020B0604020202020204" pitchFamily="34" charset="0"/>
              <a:buChar char="•"/>
              <a:defRPr/>
            </a:lvl7pPr>
            <a:lvl8pPr>
              <a:buSzPct val="100000"/>
              <a:buFont typeface="Arial" panose="020B0604020202020204" pitchFamily="34" charset="0"/>
              <a:buChar char="•"/>
              <a:defRPr/>
            </a:lvl8pPr>
            <a:lvl9pPr>
              <a:buSzPct val="100000"/>
              <a:buFont typeface="Arial" panose="020B0604020202020204" pitchFamily="34" charset="0"/>
              <a:buChar char="•"/>
              <a:defRPr/>
            </a:lvl9pPr>
          </a:lstStyle>
          <a:p>
            <a:r>
              <a:rPr dirty="0"/>
              <a:t>First level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  <a:p>
            <a:pPr lvl="5"/>
            <a:r>
              <a:rPr dirty="0"/>
              <a:t>Sixth level</a:t>
            </a:r>
          </a:p>
          <a:p>
            <a:pPr lvl="6"/>
            <a:r>
              <a:rPr dirty="0"/>
              <a:t>Seventh level</a:t>
            </a:r>
          </a:p>
          <a:p>
            <a:pPr lvl="7"/>
            <a:r>
              <a:rPr dirty="0"/>
              <a:t>Eighth level</a:t>
            </a:r>
          </a:p>
          <a:p>
            <a:pPr lvl="8"/>
            <a:r>
              <a:rPr dirty="0"/>
              <a:t>Ninth level</a:t>
            </a:r>
          </a:p>
        </p:txBody>
      </p:sp>
      <p:sp>
        <p:nvSpPr>
          <p:cNvPr id="11" name="Placeholder for sldNum"/>
          <p:cNvSpPr>
            <a:spLocks noGrp="1"/>
          </p:cNvSpPr>
          <p:nvPr>
            <p:ph type="sldNum" idx="1"/>
          </p:nvPr>
        </p:nvSpPr>
        <p:spPr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>
              <a:defRPr/>
            </a:lvl1pPr>
          </a:lstStyle>
          <a:p>
            <a:fld id="{7475F232-FFFE-5E6C-5554-2F165DAD28C0}" type="slidenum">
              <a:t>‹#›</a:t>
            </a:fld>
            <a:endParaRPr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3EB3908-8FC6-6D84-5753-FED228058B1E}"/>
              </a:ext>
            </a:extLst>
          </p:cNvPr>
          <p:cNvSpPr txBox="1"/>
          <p:nvPr userDrawn="1"/>
        </p:nvSpPr>
        <p:spPr>
          <a:xfrm>
            <a:off x="0" y="0"/>
            <a:ext cx="8733692" cy="523220"/>
          </a:xfrm>
          <a:custGeom>
            <a:avLst/>
            <a:gdLst>
              <a:gd name="connsiteX0" fmla="*/ 0 w 8949956"/>
              <a:gd name="connsiteY0" fmla="*/ 0 h 523220"/>
              <a:gd name="connsiteX1" fmla="*/ 8949956 w 8949956"/>
              <a:gd name="connsiteY1" fmla="*/ 0 h 523220"/>
              <a:gd name="connsiteX2" fmla="*/ 8894599 w 8949956"/>
              <a:gd name="connsiteY2" fmla="*/ 5580 h 523220"/>
              <a:gd name="connsiteX3" fmla="*/ 8617703 w 8949956"/>
              <a:gd name="connsiteY3" fmla="*/ 345320 h 523220"/>
              <a:gd name="connsiteX4" fmla="*/ 8644955 w 8949956"/>
              <a:gd name="connsiteY4" fmla="*/ 480304 h 523220"/>
              <a:gd name="connsiteX5" fmla="*/ 8668249 w 8949956"/>
              <a:gd name="connsiteY5" fmla="*/ 523220 h 523220"/>
              <a:gd name="connsiteX6" fmla="*/ 0 w 8949956"/>
              <a:gd name="connsiteY6" fmla="*/ 523220 h 523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9956" h="523220">
                <a:moveTo>
                  <a:pt x="0" y="0"/>
                </a:moveTo>
                <a:lnTo>
                  <a:pt x="8949956" y="0"/>
                </a:lnTo>
                <a:lnTo>
                  <a:pt x="8894599" y="5580"/>
                </a:lnTo>
                <a:cubicBezTo>
                  <a:pt x="8736575" y="37917"/>
                  <a:pt x="8617703" y="177737"/>
                  <a:pt x="8617703" y="345320"/>
                </a:cubicBezTo>
                <a:cubicBezTo>
                  <a:pt x="8617703" y="393201"/>
                  <a:pt x="8627407" y="438816"/>
                  <a:pt x="8644955" y="480304"/>
                </a:cubicBezTo>
                <a:lnTo>
                  <a:pt x="8668249" y="523220"/>
                </a:lnTo>
                <a:lnTo>
                  <a:pt x="0" y="523220"/>
                </a:lnTo>
                <a:close/>
              </a:path>
            </a:pathLst>
          </a:custGeom>
          <a:gradFill flip="none" rotWithShape="1">
            <a:gsLst>
              <a:gs pos="56000">
                <a:srgbClr val="0070C0">
                  <a:alpha val="47000"/>
                </a:srgbClr>
              </a:gs>
              <a:gs pos="100000">
                <a:srgbClr val="0070C0"/>
              </a:gs>
            </a:gsLst>
            <a:lin ang="10800000" scaled="1"/>
            <a:tileRect/>
          </a:gradFill>
        </p:spPr>
        <p:txBody>
          <a:bodyPr wrap="square" lIns="91440" tIns="45720" rIns="91440" bIns="45720" rtlCol="0">
            <a:noAutofit/>
          </a:bodyPr>
          <a:lstStyle>
            <a:lvl1pPr>
              <a:lnSpc>
                <a:spcPct val="100000"/>
              </a:lnSpc>
              <a:defRPr sz="280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>
                    <a:alpha val="100000"/>
                  </a:srgbClr>
                </a:solidFill>
                <a:latin typeface="Cambria"/>
                <a:ea typeface="Cambria"/>
                <a:cs typeface="Cambria"/>
              </a:rPr>
              <a:t>■ </a:t>
            </a:r>
            <a:endParaRPr dirty="0"/>
          </a:p>
        </p:txBody>
      </p:sp>
      <p:sp>
        <p:nvSpPr>
          <p:cNvPr id="14" name="Placeholder for title"/>
          <p:cNvSpPr>
            <a:spLocks noGrp="1"/>
          </p:cNvSpPr>
          <p:nvPr>
            <p:ph type="title" idx="2" hasCustomPrompt="1"/>
          </p:nvPr>
        </p:nvSpPr>
        <p:spPr>
          <a:xfrm>
            <a:off x="179512" y="15525"/>
            <a:ext cx="8136904" cy="571500"/>
          </a:xfrm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>
            <a:lvl1pPr marL="180975" indent="0">
              <a:defRPr sz="2200" cap="small" baseline="0">
                <a:solidFill>
                  <a:srgbClr val="FFFFFF">
                    <a:alpha val="100000"/>
                  </a:srgb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游ゴシック Medium" panose="020B0500000000000000" pitchFamily="50" charset="-128"/>
              </a:defRPr>
            </a:lvl1pPr>
          </a:lstStyle>
          <a:p>
            <a:r>
              <a:rPr dirty="0"/>
              <a:t>Click to edit master title style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821EDD68-0082-E9D5-9873-C1A9C91A42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67539" y="26245"/>
            <a:ext cx="648072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188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JP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JP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fld id="{D8EC5374-57E1-C524-E947-346F474B0D38}" type="slidenum">
              <a:rPr lang="en-US" altLang="ja-JP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18789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284242797" r:id="rId1"/>
    <p:sldLayoutId id="2284242798" r:id="rId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4050" b="1" kern="1200" cap="all" baseline="0"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游ゴシック Medium" panose="020B0500000000000000" pitchFamily="50" charset="-128"/>
          <a:ea typeface="游ゴシック Medium" panose="020B0500000000000000" pitchFamily="50" charset="-128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5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35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b="1" kern="1200">
          <a:solidFill>
            <a:schemeClr val="tx1"/>
          </a:solidFill>
          <a:latin typeface="游ゴシック Medium" panose="020B0500000000000000" pitchFamily="50" charset="-128"/>
          <a:ea typeface="游ゴシック Medium" panose="020B0500000000000000" pitchFamily="50" charset="-128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4617107"/>
          <a:chOff x="0" y="0"/>
          <a:chExt cx="9144000" cy="4617107"/>
        </a:xfrm>
      </p:grpSpPr>
      <p:sp>
        <p:nvSpPr>
          <p:cNvPr id="2" name="Placeholder for title"/>
          <p:cNvSpPr>
            <a:spLocks noGrp="1"/>
          </p:cNvSpPr>
          <p:nvPr>
            <p:ph type="title"/>
          </p:nvPr>
        </p:nvSpPr>
        <p:spPr>
          <a:xfrm>
            <a:off x="0" y="1943299"/>
            <a:ext cx="9144000" cy="628451"/>
          </a:xfrm>
          <a:prstGeom prst="rect">
            <a:avLst/>
          </a:prstGeom>
          <a:noFill/>
        </p:spPr>
        <p:txBody>
          <a:bodyPr lIns="91440" tIns="45720" rIns="91440" bIns="45720" rtlCol="0">
            <a:noAutofit/>
          </a:bodyPr>
          <a:lstStyle/>
          <a:p>
            <a:r>
              <a:rPr lang="en-US" dirty="0"/>
              <a:t>Pose Graph Optimization for Vision-Only Freehand 3D Ultrasound Reconstruction</a:t>
            </a:r>
            <a:endParaRPr lang="ja-JP" sz="3200" b="0" dirty="0"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</p:txBody>
      </p:sp>
      <p:sp>
        <p:nvSpPr>
          <p:cNvPr id="3" name="Placeholder for subTitle"/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</p:spPr>
        <p:txBody>
          <a:bodyPr lIns="91440" tIns="45720" rIns="91440" bIns="45720" rtlCol="0">
            <a:normAutofit/>
          </a:bodyPr>
          <a:lstStyle/>
          <a:p>
            <a:pPr>
              <a:buNone/>
            </a:pPr>
            <a:r>
              <a:rPr lang="en-US" b="0" dirty="0">
                <a:latin typeface="Yu Gothic Medium" panose="020B0400000000000000" pitchFamily="34" charset="-128"/>
                <a:ea typeface="Yu Gothic Medium" panose="020B0400000000000000" pitchFamily="34" charset="-128"/>
              </a:rPr>
              <a:t>Proposal for Master Thesis</a:t>
            </a:r>
            <a:endParaRPr b="0" dirty="0"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</p:txBody>
      </p:sp>
      <p:cxnSp>
        <p:nvCxnSpPr>
          <p:cNvPr id="4" name="直線コネクタ 3"/>
          <p:cNvCxnSpPr>
            <a:cxnSpLocks/>
          </p:cNvCxnSpPr>
          <p:nvPr/>
        </p:nvCxnSpPr>
        <p:spPr>
          <a:xfrm>
            <a:off x="1475656" y="2581608"/>
            <a:ext cx="6264696" cy="0"/>
          </a:xfrm>
          <a:prstGeom prst="line">
            <a:avLst/>
          </a:prstGeom>
          <a:ln w="34925" cap="flat" cmpd="sng" algn="ctr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47000">
                  <a:srgbClr val="00B0F0">
                    <a:alpha val="15000"/>
                  </a:srgbClr>
                </a:gs>
                <a:gs pos="83000">
                  <a:srgbClr val="00B0F0"/>
                </a:gs>
                <a:gs pos="100000">
                  <a:srgbClr val="00B0F0"/>
                </a:gs>
              </a:gsLst>
              <a:lin ang="10800000" scaled="1"/>
              <a:tileRect/>
            </a:gradFill>
            <a:prstDash val="solid"/>
            <a:round/>
          </a:ln>
        </p:spPr>
      </p:cxnSp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0E8696AE-8609-3F5A-E2EA-9118C2D7BB63}"/>
              </a:ext>
            </a:extLst>
          </p:cNvPr>
          <p:cNvSpPr txBox="1"/>
          <p:nvPr/>
        </p:nvSpPr>
        <p:spPr>
          <a:xfrm>
            <a:off x="0" y="3867894"/>
            <a:ext cx="9143999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>
              <a:buNone/>
            </a:pPr>
            <a:r>
              <a:rPr lang="en-US" altLang="ja-JP" sz="1600" b="1" dirty="0">
                <a:latin typeface="游ゴシック Medium" panose="020B0500000000000000" pitchFamily="50" charset="-128"/>
                <a:ea typeface="游ゴシック Medium" panose="020B0500000000000000" pitchFamily="50" charset="-128"/>
              </a:rPr>
              <a:t>Jannis Meyer</a:t>
            </a:r>
            <a:endParaRPr sz="1600" b="1" dirty="0">
              <a:latin typeface="游ゴシック Medium" panose="020B0500000000000000" pitchFamily="50" charset="-128"/>
              <a:ea typeface="游ゴシック Medium" panose="020B0500000000000000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A93C68-15BF-B81F-B0FF-5A006AF0A3F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47685" y="851832"/>
            <a:ext cx="4100279" cy="17199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3D Ultrasound (UR)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Expensive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Not always available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Limited resolution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7F7DB6-AC43-C0C5-2BEB-E1C8A3DEEBB7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2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25E6DA-CE14-E9C0-A094-676629A5080E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JP" dirty="0"/>
              <a:t>Introduction</a:t>
            </a:r>
          </a:p>
        </p:txBody>
      </p:sp>
      <p:pic>
        <p:nvPicPr>
          <p:cNvPr id="6" name="Picture 5" descr="A black and white image of a device&#10;&#10;AI-generated content may be incorrect.">
            <a:extLst>
              <a:ext uri="{FF2B5EF4-FFF2-40B4-BE49-F238E27FC236}">
                <a16:creationId xmlns:a16="http://schemas.microsoft.com/office/drawing/2014/main" id="{3139948F-60F8-78CE-39F0-DD91F2EE99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74970">
            <a:off x="5668419" y="676221"/>
            <a:ext cx="718291" cy="750607"/>
          </a:xfrm>
          <a:prstGeom prst="rect">
            <a:avLst/>
          </a:prstGeom>
        </p:spPr>
      </p:pic>
      <p:pic>
        <p:nvPicPr>
          <p:cNvPr id="1034" name="Picture 10" descr="Arm - Download free icons">
            <a:extLst>
              <a:ext uri="{FF2B5EF4-FFF2-40B4-BE49-F238E27FC236}">
                <a16:creationId xmlns:a16="http://schemas.microsoft.com/office/drawing/2014/main" id="{266DD1A9-4B11-3F6A-0409-FA418DF08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362171">
            <a:off x="6603427" y="413674"/>
            <a:ext cx="1275699" cy="1275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BF72B16-9CBC-A66B-FD0F-B2587DE9532C}"/>
              </a:ext>
            </a:extLst>
          </p:cNvPr>
          <p:cNvSpPr txBox="1">
            <a:spLocks/>
          </p:cNvSpPr>
          <p:nvPr/>
        </p:nvSpPr>
        <p:spPr>
          <a:xfrm>
            <a:off x="124372" y="3939903"/>
            <a:ext cx="5023692" cy="84775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2500"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2000" dirty="0"/>
              <a:t>3D UR Reconstruction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2000" b="0" dirty="0"/>
              <a:t>2D UR Images + Probe Pose = 3D Volume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E403C321-F04C-FABF-9CD3-F636EC280002}"/>
              </a:ext>
            </a:extLst>
          </p:cNvPr>
          <p:cNvSpPr/>
          <p:nvPr/>
        </p:nvSpPr>
        <p:spPr>
          <a:xfrm>
            <a:off x="6474028" y="2404358"/>
            <a:ext cx="576064" cy="7836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0743BC7A-D94E-713F-3700-2F8A7F1AE2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637" y="2268513"/>
            <a:ext cx="4330799" cy="209526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3B379E-E2A8-90C3-44F6-671FE52AFAD0}"/>
              </a:ext>
            </a:extLst>
          </p:cNvPr>
          <p:cNvSpPr txBox="1"/>
          <p:nvPr/>
        </p:nvSpPr>
        <p:spPr>
          <a:xfrm>
            <a:off x="5388927" y="4211019"/>
            <a:ext cx="27462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Source: https://github.com/ImFusionGmbH/DualTrack</a:t>
            </a: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D4E6A283-55F4-68F9-AC1F-926F1E690196}"/>
              </a:ext>
            </a:extLst>
          </p:cNvPr>
          <p:cNvSpPr/>
          <p:nvPr/>
        </p:nvSpPr>
        <p:spPr>
          <a:xfrm>
            <a:off x="6258992" y="1516023"/>
            <a:ext cx="576064" cy="623679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8790FBAC-A20E-A5E1-D96E-D47C936C81BD}"/>
              </a:ext>
            </a:extLst>
          </p:cNvPr>
          <p:cNvSpPr/>
          <p:nvPr/>
        </p:nvSpPr>
        <p:spPr>
          <a:xfrm>
            <a:off x="899592" y="2876187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591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E55EB-E11D-F0D9-5A29-3350E71D4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B47ABC-6FB1-03E0-E874-D20F695F268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95174" y="906652"/>
            <a:ext cx="1976043" cy="4237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Tracking Probe</a:t>
            </a: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737E1D-618E-C0DD-C155-FC645C545507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3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E38E39-9766-B17D-88EC-3F1427AA8155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How do we get the probes pose?</a:t>
            </a:r>
            <a:endParaRPr lang="en-JP" dirty="0"/>
          </a:p>
        </p:txBody>
      </p:sp>
      <p:pic>
        <p:nvPicPr>
          <p:cNvPr id="5" name="Picture 4" descr="A black and white image of a device&#10;&#10;AI-generated content may be incorrect.">
            <a:extLst>
              <a:ext uri="{FF2B5EF4-FFF2-40B4-BE49-F238E27FC236}">
                <a16:creationId xmlns:a16="http://schemas.microsoft.com/office/drawing/2014/main" id="{E4DD0DEE-6676-EA31-F060-26A8455431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74970">
            <a:off x="1492612" y="1330069"/>
            <a:ext cx="718291" cy="750607"/>
          </a:xfrm>
          <a:prstGeom prst="rect">
            <a:avLst/>
          </a:prstGeom>
        </p:spPr>
      </p:pic>
      <p:pic>
        <p:nvPicPr>
          <p:cNvPr id="2052" name="Picture 4" descr="Camera, Photography Icon Hd PNG Transparent Background, Free Download ...">
            <a:extLst>
              <a:ext uri="{FF2B5EF4-FFF2-40B4-BE49-F238E27FC236}">
                <a16:creationId xmlns:a16="http://schemas.microsoft.com/office/drawing/2014/main" id="{75D733EA-C6FD-AAB1-B513-8051442B3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24" y="1419622"/>
            <a:ext cx="744206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50B06FB1-74E8-2392-9FA4-8FFCB822BFC2}"/>
              </a:ext>
            </a:extLst>
          </p:cNvPr>
          <p:cNvSpPr txBox="1">
            <a:spLocks/>
          </p:cNvSpPr>
          <p:nvPr/>
        </p:nvSpPr>
        <p:spPr>
          <a:xfrm>
            <a:off x="3631169" y="902730"/>
            <a:ext cx="1976043" cy="6480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2000" dirty="0"/>
              <a:t>Speckle Decorrelation</a:t>
            </a:r>
            <a:endParaRPr lang="en-US" sz="2000" b="0" dirty="0">
              <a:ea typeface="游ゴシック Medium"/>
              <a:cs typeface="Times New Roman"/>
            </a:endParaRPr>
          </a:p>
        </p:txBody>
      </p:sp>
      <p:pic>
        <p:nvPicPr>
          <p:cNvPr id="2054" name="Picture 6" descr="See the source image">
            <a:extLst>
              <a:ext uri="{FF2B5EF4-FFF2-40B4-BE49-F238E27FC236}">
                <a16:creationId xmlns:a16="http://schemas.microsoft.com/office/drawing/2014/main" id="{7173C920-A56D-FC7A-848D-B03551021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574" y="1523070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1D28C307-4217-7844-A5B2-D1DD40194925}"/>
              </a:ext>
            </a:extLst>
          </p:cNvPr>
          <p:cNvSpPr txBox="1">
            <a:spLocks/>
          </p:cNvSpPr>
          <p:nvPr/>
        </p:nvSpPr>
        <p:spPr>
          <a:xfrm>
            <a:off x="6329997" y="902730"/>
            <a:ext cx="2485428" cy="6480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2000" dirty="0"/>
              <a:t>Deep Learning (DL)</a:t>
            </a:r>
            <a:endParaRPr lang="en-US" sz="2000" b="0" dirty="0">
              <a:ea typeface="游ゴシック Medium"/>
              <a:cs typeface="Times New Roman"/>
            </a:endParaRPr>
          </a:p>
        </p:txBody>
      </p:sp>
      <p:pic>
        <p:nvPicPr>
          <p:cNvPr id="2056" name="Picture 8" descr="Artificial Intelligence AI Icon SVG Vector &amp; PNG Free Download | UXWing">
            <a:extLst>
              <a:ext uri="{FF2B5EF4-FFF2-40B4-BE49-F238E27FC236}">
                <a16:creationId xmlns:a16="http://schemas.microsoft.com/office/drawing/2014/main" id="{092E2C3E-2DED-7DAC-F359-71AAE9D70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1419622"/>
            <a:ext cx="936105" cy="936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6401323F-E69F-C8ED-8765-639AF517A159}"/>
              </a:ext>
            </a:extLst>
          </p:cNvPr>
          <p:cNvSpPr/>
          <p:nvPr/>
        </p:nvSpPr>
        <p:spPr>
          <a:xfrm rot="16200000">
            <a:off x="2713161" y="1162603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47E588E-0698-FE09-AC97-8A5B17E4A1AD}"/>
              </a:ext>
            </a:extLst>
          </p:cNvPr>
          <p:cNvSpPr/>
          <p:nvPr/>
        </p:nvSpPr>
        <p:spPr>
          <a:xfrm rot="16200000">
            <a:off x="5690447" y="1202958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3417A2A9-0D3B-89BD-C4D2-0A0D1873E4F9}"/>
              </a:ext>
            </a:extLst>
          </p:cNvPr>
          <p:cNvSpPr txBox="1">
            <a:spLocks/>
          </p:cNvSpPr>
          <p:nvPr/>
        </p:nvSpPr>
        <p:spPr>
          <a:xfrm>
            <a:off x="932664" y="3456794"/>
            <a:ext cx="7278672" cy="1347204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2000" dirty="0"/>
              <a:t>Oftentimes: </a:t>
            </a:r>
            <a:r>
              <a:rPr lang="en-US" sz="2000" b="0" dirty="0"/>
              <a:t>Additional data from IMU, external sensor etc.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/>
              <a:t>➔ Current research focusses on vision-only DL methods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/>
              <a:t>➔ </a:t>
            </a:r>
            <a:r>
              <a:rPr lang="en-US" sz="2000" dirty="0"/>
              <a:t>Main Problems: </a:t>
            </a:r>
            <a:r>
              <a:rPr lang="en-US" sz="2000" b="0" dirty="0"/>
              <a:t>Drift, Generalizability, Reproducibility</a:t>
            </a: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80864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6720D-4A8F-BB56-F49C-727297893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50561D-1749-D860-30B5-93FC5491476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9E3611"/>
              </a:buClr>
            </a:pPr>
            <a:r>
              <a:rPr lang="en-US" sz="2000" b="0" dirty="0"/>
              <a:t>Build a pose graph from estimated probe poses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Use Pose Graph Optimization (PGO) to increase pose reconstruction accuracy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Existing research: Use of external sensor or IMU data, tests on non-public data sets; implicit global consistency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solidFill>
                  <a:schemeClr val="accent1"/>
                </a:solidFill>
              </a:rPr>
              <a:t>➔ </a:t>
            </a:r>
            <a:r>
              <a:rPr lang="en-US" sz="2000" b="0" dirty="0"/>
              <a:t>Vision-only; explicit attention to global consistency; usage of realistic, publicly available data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Research hypothesis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/>
              <a:t>“</a:t>
            </a:r>
            <a:r>
              <a:rPr lang="en-US" sz="2000" b="0" i="1" dirty="0"/>
              <a:t>PGO will improve pose estimation performance and consistency of vision-based DL methods for 3d UR reconstruction.”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D70AE-7E1E-8260-B8C4-3C66D7DFD1FB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4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504CE6-9EB9-2940-6EA3-37ADB1B3EA90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Research proposal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689463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0D8BE-2205-1750-A1D3-EE96FF6B9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AAE836-D63B-14B9-2C13-E7449C635A3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544" y="843558"/>
            <a:ext cx="4824536" cy="7920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Simultaneous Localization and Mapping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(SLAM)</a:t>
            </a: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1235A8-3A15-5530-3742-F21AF6A55281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5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262AE0E-F373-EF72-831E-ED054F0D9F8A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Pose Graph Optimization (PGO)</a:t>
            </a:r>
            <a:endParaRPr lang="en-JP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A3034D-8FE3-625F-E24C-917F82CD6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635646"/>
            <a:ext cx="4761731" cy="22370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525F79-E5A1-68C9-010A-A7C12FC45192}"/>
              </a:ext>
            </a:extLst>
          </p:cNvPr>
          <p:cNvSpPr txBox="1"/>
          <p:nvPr/>
        </p:nvSpPr>
        <p:spPr>
          <a:xfrm>
            <a:off x="716254" y="3939902"/>
            <a:ext cx="42643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Source: https://sifsof.com/clinical-apps/simultaneous-localization-and-mapping-slam/</a:t>
            </a:r>
          </a:p>
        </p:txBody>
      </p:sp>
      <p:pic>
        <p:nvPicPr>
          <p:cNvPr id="32" name="Picture 2" descr="Network Graph Nodes Connections Chart Data Points Trend Analysis ...">
            <a:extLst>
              <a:ext uri="{FF2B5EF4-FFF2-40B4-BE49-F238E27FC236}">
                <a16:creationId xmlns:a16="http://schemas.microsoft.com/office/drawing/2014/main" id="{7DEE81FC-85B2-C25F-D922-5612E9A35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80279">
            <a:off x="5968718" y="2023933"/>
            <a:ext cx="2271720" cy="109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3F871510-17FA-5DFE-7EF1-6E24DCCD275F}"/>
              </a:ext>
            </a:extLst>
          </p:cNvPr>
          <p:cNvSpPr txBox="1">
            <a:spLocks/>
          </p:cNvSpPr>
          <p:nvPr/>
        </p:nvSpPr>
        <p:spPr>
          <a:xfrm>
            <a:off x="7411491" y="3458147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7652B628-D35E-FA5D-0B60-AD7185A6EBD1}"/>
              </a:ext>
            </a:extLst>
          </p:cNvPr>
          <p:cNvSpPr txBox="1">
            <a:spLocks/>
          </p:cNvSpPr>
          <p:nvPr/>
        </p:nvSpPr>
        <p:spPr>
          <a:xfrm>
            <a:off x="7716291" y="2211708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EA5CAB84-A151-2F76-0C8E-8A4695A8DC3B}"/>
              </a:ext>
            </a:extLst>
          </p:cNvPr>
          <p:cNvSpPr txBox="1">
            <a:spLocks/>
          </p:cNvSpPr>
          <p:nvPr/>
        </p:nvSpPr>
        <p:spPr>
          <a:xfrm>
            <a:off x="6475387" y="1362781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36" name="Text Placeholder 1">
            <a:extLst>
              <a:ext uri="{FF2B5EF4-FFF2-40B4-BE49-F238E27FC236}">
                <a16:creationId xmlns:a16="http://schemas.microsoft.com/office/drawing/2014/main" id="{B1257DF7-0D13-B7F5-7740-4DADA9D5E419}"/>
              </a:ext>
            </a:extLst>
          </p:cNvPr>
          <p:cNvSpPr txBox="1">
            <a:spLocks/>
          </p:cNvSpPr>
          <p:nvPr/>
        </p:nvSpPr>
        <p:spPr>
          <a:xfrm>
            <a:off x="6259362" y="2715764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37" name="Text Placeholder 1">
            <a:extLst>
              <a:ext uri="{FF2B5EF4-FFF2-40B4-BE49-F238E27FC236}">
                <a16:creationId xmlns:a16="http://schemas.microsoft.com/office/drawing/2014/main" id="{C45B0DB6-C49B-7F2E-9714-FBCB3FA80B5B}"/>
              </a:ext>
            </a:extLst>
          </p:cNvPr>
          <p:cNvSpPr txBox="1">
            <a:spLocks/>
          </p:cNvSpPr>
          <p:nvPr/>
        </p:nvSpPr>
        <p:spPr>
          <a:xfrm>
            <a:off x="7205608" y="1685349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2→3</a:t>
            </a:r>
          </a:p>
        </p:txBody>
      </p:sp>
      <p:sp>
        <p:nvSpPr>
          <p:cNvPr id="38" name="Text Placeholder 1">
            <a:extLst>
              <a:ext uri="{FF2B5EF4-FFF2-40B4-BE49-F238E27FC236}">
                <a16:creationId xmlns:a16="http://schemas.microsoft.com/office/drawing/2014/main" id="{6A30B786-3503-3AF6-42D9-8D9084E4661E}"/>
              </a:ext>
            </a:extLst>
          </p:cNvPr>
          <p:cNvSpPr txBox="1">
            <a:spLocks/>
          </p:cNvSpPr>
          <p:nvPr/>
        </p:nvSpPr>
        <p:spPr>
          <a:xfrm>
            <a:off x="6619402" y="228313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1→2</a:t>
            </a:r>
          </a:p>
        </p:txBody>
      </p:sp>
      <p:sp>
        <p:nvSpPr>
          <p:cNvPr id="39" name="Text Placeholder 1">
            <a:extLst>
              <a:ext uri="{FF2B5EF4-FFF2-40B4-BE49-F238E27FC236}">
                <a16:creationId xmlns:a16="http://schemas.microsoft.com/office/drawing/2014/main" id="{93E2D39B-0694-5F61-B202-0EFB202B28B3}"/>
              </a:ext>
            </a:extLst>
          </p:cNvPr>
          <p:cNvSpPr txBox="1">
            <a:spLocks/>
          </p:cNvSpPr>
          <p:nvPr/>
        </p:nvSpPr>
        <p:spPr>
          <a:xfrm>
            <a:off x="7018120" y="295201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0→1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A890B1-711B-4A17-4A24-20B994DFA4F6}"/>
              </a:ext>
            </a:extLst>
          </p:cNvPr>
          <p:cNvSpPr txBox="1"/>
          <p:nvPr/>
        </p:nvSpPr>
        <p:spPr>
          <a:xfrm>
            <a:off x="5553070" y="4018953"/>
            <a:ext cx="3305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T</a:t>
            </a:r>
            <a:r>
              <a:rPr lang="en-US" sz="1400" baseline="-250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i</a:t>
            </a:r>
            <a:r>
              <a:rPr lang="en-US" sz="1400" dirty="0">
                <a:latin typeface="游ゴシック Medium" panose="020B0500000000000000" pitchFamily="50" charset="-128"/>
              </a:rPr>
              <a:t>:       Pose at node </a:t>
            </a:r>
            <a:r>
              <a:rPr lang="en-US" sz="1400" dirty="0" err="1">
                <a:latin typeface="游ゴシック Medium" panose="020B0500000000000000" pitchFamily="50" charset="-128"/>
              </a:rPr>
              <a:t>i</a:t>
            </a:r>
            <a:endParaRPr lang="en-US" sz="1400" dirty="0">
              <a:latin typeface="游ゴシック Medium" panose="020B0500000000000000" pitchFamily="50" charset="-128"/>
            </a:endParaRPr>
          </a:p>
          <a:p>
            <a:r>
              <a:rPr lang="en-US" sz="14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T</a:t>
            </a:r>
            <a:r>
              <a:rPr lang="en-US" sz="1400" baseline="-250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i→i+1</a:t>
            </a:r>
            <a:r>
              <a:rPr lang="en-US" sz="1400" dirty="0">
                <a:latin typeface="游ゴシック Medium" panose="020B0500000000000000" pitchFamily="50" charset="-128"/>
              </a:rPr>
              <a:t>: Transform between nodes </a:t>
            </a:r>
            <a:r>
              <a:rPr lang="en-US" sz="1400" dirty="0" err="1">
                <a:latin typeface="游ゴシック Medium" panose="020B0500000000000000" pitchFamily="50" charset="-128"/>
              </a:rPr>
              <a:t>i</a:t>
            </a:r>
            <a:r>
              <a:rPr lang="en-US" sz="1400" dirty="0">
                <a:latin typeface="游ゴシック Medium" panose="020B0500000000000000" pitchFamily="50" charset="-128"/>
              </a:rPr>
              <a:t>, j</a:t>
            </a:r>
          </a:p>
        </p:txBody>
      </p:sp>
    </p:spTree>
    <p:extLst>
      <p:ext uri="{BB962C8B-B14F-4D97-AF65-F5344CB8AC3E}">
        <p14:creationId xmlns:p14="http://schemas.microsoft.com/office/powerpoint/2010/main" val="818203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44C34B-64DA-61CC-D9B7-AC47ECF86EB8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2F855E-67C7-897F-D914-EC3B32890924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Pose Graph Optimization (PGO)</a:t>
            </a:r>
          </a:p>
        </p:txBody>
      </p:sp>
      <p:pic>
        <p:nvPicPr>
          <p:cNvPr id="3074" name="Picture 2" descr="Network Graph Nodes Connections Chart Data Points Trend Analysis ...">
            <a:extLst>
              <a:ext uri="{FF2B5EF4-FFF2-40B4-BE49-F238E27FC236}">
                <a16:creationId xmlns:a16="http://schemas.microsoft.com/office/drawing/2014/main" id="{A61E3F5E-CFAE-18D5-1DDF-03841385A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80279">
            <a:off x="551837" y="2240539"/>
            <a:ext cx="2271720" cy="109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6B595A67-5BB7-348B-220D-793CB4F632D6}"/>
              </a:ext>
            </a:extLst>
          </p:cNvPr>
          <p:cNvSpPr txBox="1">
            <a:spLocks/>
          </p:cNvSpPr>
          <p:nvPr/>
        </p:nvSpPr>
        <p:spPr>
          <a:xfrm>
            <a:off x="1994610" y="3674753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7652EAAF-9EED-6167-68A3-92BD6C8A87FD}"/>
              </a:ext>
            </a:extLst>
          </p:cNvPr>
          <p:cNvSpPr txBox="1">
            <a:spLocks/>
          </p:cNvSpPr>
          <p:nvPr/>
        </p:nvSpPr>
        <p:spPr>
          <a:xfrm>
            <a:off x="2299410" y="2428314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23" name="Text Placeholder 1">
            <a:extLst>
              <a:ext uri="{FF2B5EF4-FFF2-40B4-BE49-F238E27FC236}">
                <a16:creationId xmlns:a16="http://schemas.microsoft.com/office/drawing/2014/main" id="{24335836-A989-B7AB-CDBA-15CCD4C65638}"/>
              </a:ext>
            </a:extLst>
          </p:cNvPr>
          <p:cNvSpPr txBox="1">
            <a:spLocks/>
          </p:cNvSpPr>
          <p:nvPr/>
        </p:nvSpPr>
        <p:spPr>
          <a:xfrm>
            <a:off x="1058506" y="1579387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447D328F-B35C-0041-6DD8-447227EC23CD}"/>
              </a:ext>
            </a:extLst>
          </p:cNvPr>
          <p:cNvSpPr txBox="1">
            <a:spLocks/>
          </p:cNvSpPr>
          <p:nvPr/>
        </p:nvSpPr>
        <p:spPr>
          <a:xfrm>
            <a:off x="842481" y="2932370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0A1AB8DE-FCBF-8157-FCC0-769789844263}"/>
              </a:ext>
            </a:extLst>
          </p:cNvPr>
          <p:cNvSpPr txBox="1">
            <a:spLocks/>
          </p:cNvSpPr>
          <p:nvPr/>
        </p:nvSpPr>
        <p:spPr>
          <a:xfrm>
            <a:off x="1788727" y="1901955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2→3</a:t>
            </a: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895E74C2-E5BF-3C95-39EF-E64907D5D954}"/>
              </a:ext>
            </a:extLst>
          </p:cNvPr>
          <p:cNvSpPr txBox="1">
            <a:spLocks/>
          </p:cNvSpPr>
          <p:nvPr/>
        </p:nvSpPr>
        <p:spPr>
          <a:xfrm>
            <a:off x="1202521" y="2499742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1→2</a:t>
            </a:r>
          </a:p>
        </p:txBody>
      </p:sp>
      <p:sp>
        <p:nvSpPr>
          <p:cNvPr id="28" name="Text Placeholder 1">
            <a:extLst>
              <a:ext uri="{FF2B5EF4-FFF2-40B4-BE49-F238E27FC236}">
                <a16:creationId xmlns:a16="http://schemas.microsoft.com/office/drawing/2014/main" id="{00E2CB42-650D-62A4-B48C-72A252CD26A2}"/>
              </a:ext>
            </a:extLst>
          </p:cNvPr>
          <p:cNvSpPr txBox="1">
            <a:spLocks/>
          </p:cNvSpPr>
          <p:nvPr/>
        </p:nvSpPr>
        <p:spPr>
          <a:xfrm>
            <a:off x="1601239" y="3168622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0→1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50C7AE-2A49-A57A-FD75-23D57CA882D7}"/>
              </a:ext>
            </a:extLst>
          </p:cNvPr>
          <p:cNvSpPr txBox="1"/>
          <p:nvPr/>
        </p:nvSpPr>
        <p:spPr>
          <a:xfrm>
            <a:off x="3350910" y="913878"/>
            <a:ext cx="4322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T</a:t>
            </a:r>
            <a:r>
              <a:rPr lang="en-US" sz="1400" baseline="-250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i </a:t>
            </a:r>
            <a:r>
              <a:rPr lang="en-US" sz="14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/ T</a:t>
            </a:r>
            <a:r>
              <a:rPr lang="en-US" sz="1400" baseline="-250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i→i+1 </a:t>
            </a:r>
            <a:r>
              <a:rPr lang="en-US" sz="14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: Six Degrees of Freedom (6DoF) Pose Matrix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EE0B3E-9523-D44A-41C3-6494BE929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983194"/>
              </p:ext>
            </p:extLst>
          </p:nvPr>
        </p:nvGraphicFramePr>
        <p:xfrm>
          <a:off x="3989842" y="1544259"/>
          <a:ext cx="2016224" cy="12458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711512698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58783054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46059481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12462374"/>
                    </a:ext>
                  </a:extLst>
                </a:gridCol>
              </a:tblGrid>
              <a:tr h="298344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760287"/>
                  </a:ext>
                </a:extLst>
              </a:tr>
              <a:tr h="35079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909197"/>
                  </a:ext>
                </a:extLst>
              </a:tr>
              <a:tr h="29834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r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t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223675"/>
                  </a:ext>
                </a:extLst>
              </a:tr>
              <a:tr h="298344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0173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D1FBC70-3420-EB0B-8691-BC3188C9F310}"/>
              </a:ext>
            </a:extLst>
          </p:cNvPr>
          <p:cNvSpPr txBox="1"/>
          <p:nvPr/>
        </p:nvSpPr>
        <p:spPr>
          <a:xfrm>
            <a:off x="6258535" y="1786650"/>
            <a:ext cx="1586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ea typeface="游ゴシック Medium"/>
                <a:cs typeface="Times New Roman"/>
              </a:rPr>
              <a:t>r</a:t>
            </a:r>
            <a:r>
              <a:rPr lang="en-US" sz="1400" baseline="-25000" dirty="0" err="1">
                <a:ea typeface="游ゴシック Medium"/>
                <a:cs typeface="Times New Roman"/>
              </a:rPr>
              <a:t>i</a:t>
            </a:r>
            <a:r>
              <a:rPr lang="en-US" sz="14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: Rotation matrix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7A9BC3-3143-14F7-AF8F-4841FBE9FECF}"/>
              </a:ext>
            </a:extLst>
          </p:cNvPr>
          <p:cNvSpPr txBox="1"/>
          <p:nvPr/>
        </p:nvSpPr>
        <p:spPr>
          <a:xfrm>
            <a:off x="6258535" y="2173734"/>
            <a:ext cx="1800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ea typeface="游ゴシック Medium"/>
                <a:cs typeface="Times New Roman"/>
              </a:rPr>
              <a:t>t</a:t>
            </a:r>
            <a:r>
              <a:rPr lang="en-US" sz="1400" baseline="-25000" dirty="0" err="1">
                <a:ea typeface="游ゴシック Medium"/>
                <a:cs typeface="Times New Roman"/>
              </a:rPr>
              <a:t>i</a:t>
            </a:r>
            <a:r>
              <a:rPr lang="en-US" sz="14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: Translation vector</a:t>
            </a:r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7A5088D9-513C-CC77-687E-37901C864447}"/>
              </a:ext>
            </a:extLst>
          </p:cNvPr>
          <p:cNvSpPr/>
          <p:nvPr/>
        </p:nvSpPr>
        <p:spPr>
          <a:xfrm>
            <a:off x="3833650" y="1495380"/>
            <a:ext cx="240909" cy="1403872"/>
          </a:xfrm>
          <a:prstGeom prst="leftBracket">
            <a:avLst>
              <a:gd name="adj" fmla="val 11202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ket 10">
            <a:extLst>
              <a:ext uri="{FF2B5EF4-FFF2-40B4-BE49-F238E27FC236}">
                <a16:creationId xmlns:a16="http://schemas.microsoft.com/office/drawing/2014/main" id="{D91B8C19-5B87-1D4C-ADA5-8AA86805B052}"/>
              </a:ext>
            </a:extLst>
          </p:cNvPr>
          <p:cNvSpPr/>
          <p:nvPr/>
        </p:nvSpPr>
        <p:spPr>
          <a:xfrm rot="10800000">
            <a:off x="5699271" y="1495380"/>
            <a:ext cx="240909" cy="1403872"/>
          </a:xfrm>
          <a:prstGeom prst="leftBracket">
            <a:avLst>
              <a:gd name="adj" fmla="val 11202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5A9F86-FDB0-98FA-AFB1-34476E9F0F2D}"/>
              </a:ext>
            </a:extLst>
          </p:cNvPr>
          <p:cNvSpPr txBox="1"/>
          <p:nvPr/>
        </p:nvSpPr>
        <p:spPr>
          <a:xfrm>
            <a:off x="3330494" y="3220982"/>
            <a:ext cx="511710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T</a:t>
            </a:r>
            <a:r>
              <a:rPr lang="en-US" sz="1400" baseline="-250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i</a:t>
            </a:r>
            <a:r>
              <a:rPr lang="en-US" sz="1400" dirty="0">
                <a:latin typeface="游ゴシック Medium" panose="020B0500000000000000" pitchFamily="50" charset="-128"/>
              </a:rPr>
              <a:t>: Absolute pose (relative to starting point)</a:t>
            </a:r>
          </a:p>
          <a:p>
            <a:r>
              <a:rPr lang="en-US" sz="1400" dirty="0">
                <a:latin typeface="游ゴシック Medium" panose="020B0500000000000000" pitchFamily="50" charset="-128"/>
              </a:rPr>
              <a:t>➔ How do I rotate and translate to get from the starting point to the current node?</a:t>
            </a:r>
          </a:p>
          <a:p>
            <a:endParaRPr lang="en-US" sz="1400" dirty="0">
              <a:latin typeface="游ゴシック Medium" panose="020B0500000000000000" pitchFamily="50" charset="-128"/>
            </a:endParaRPr>
          </a:p>
          <a:p>
            <a:r>
              <a:rPr lang="en-US" sz="14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T</a:t>
            </a:r>
            <a:r>
              <a:rPr lang="en-US" sz="1400" baseline="-25000" dirty="0">
                <a:latin typeface="游ゴシック Medium" panose="020B0500000000000000" pitchFamily="50" charset="-128"/>
                <a:ea typeface="游ゴシック Medium"/>
                <a:cs typeface="Times New Roman"/>
              </a:rPr>
              <a:t>i→i+1</a:t>
            </a:r>
            <a:r>
              <a:rPr lang="en-US" sz="1400" dirty="0">
                <a:latin typeface="游ゴシック Medium" panose="020B0500000000000000" pitchFamily="50" charset="-128"/>
              </a:rPr>
              <a:t>: Relative transform between nodes</a:t>
            </a:r>
          </a:p>
          <a:p>
            <a:r>
              <a:rPr lang="en-US" sz="1400" dirty="0">
                <a:latin typeface="游ゴシック Medium" panose="020B0500000000000000" pitchFamily="50" charset="-128"/>
              </a:rPr>
              <a:t>➔ How do I rotate and translate to get from one node to the next?</a:t>
            </a:r>
          </a:p>
        </p:txBody>
      </p:sp>
    </p:spTree>
    <p:extLst>
      <p:ext uri="{BB962C8B-B14F-4D97-AF65-F5344CB8AC3E}">
        <p14:creationId xmlns:p14="http://schemas.microsoft.com/office/powerpoint/2010/main" val="444613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BA0A4-BDF8-0FFE-3D49-43D7AC8E1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1415EB-5C18-B452-4BAC-7C8417AA3D4D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7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49A4447-A51F-0F6E-BF1A-8A4E643F7467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JP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9B0741CC-449A-D481-A856-51F74D6847F0}"/>
              </a:ext>
            </a:extLst>
          </p:cNvPr>
          <p:cNvSpPr txBox="1">
            <a:spLocks/>
          </p:cNvSpPr>
          <p:nvPr/>
        </p:nvSpPr>
        <p:spPr>
          <a:xfrm>
            <a:off x="899592" y="947090"/>
            <a:ext cx="5400600" cy="385690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2000" b="0" dirty="0">
                <a:ea typeface="游ゴシック Medium"/>
                <a:cs typeface="Times New Roman"/>
              </a:rPr>
              <a:t>Acquire pose predictions from DL model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Build initial pose graph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Add extra constraints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Add weights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Apply PGO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C905AE02-157A-21A3-B155-7FBBC0697D7E}"/>
              </a:ext>
            </a:extLst>
          </p:cNvPr>
          <p:cNvSpPr txBox="1">
            <a:spLocks/>
          </p:cNvSpPr>
          <p:nvPr/>
        </p:nvSpPr>
        <p:spPr>
          <a:xfrm>
            <a:off x="7301619" y="2278138"/>
            <a:ext cx="1576142" cy="36004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9A5FACE6-1C2D-0B34-4168-83811BD5CBE7}"/>
              </a:ext>
            </a:extLst>
          </p:cNvPr>
          <p:cNvSpPr/>
          <p:nvPr/>
        </p:nvSpPr>
        <p:spPr>
          <a:xfrm>
            <a:off x="538461" y="923720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37023A96-ABDC-7908-B885-95C8545E5939}"/>
              </a:ext>
            </a:extLst>
          </p:cNvPr>
          <p:cNvSpPr/>
          <p:nvPr/>
        </p:nvSpPr>
        <p:spPr>
          <a:xfrm>
            <a:off x="538461" y="1689528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AC678EE0-AE69-A798-105A-7B38BDA96FEC}"/>
              </a:ext>
            </a:extLst>
          </p:cNvPr>
          <p:cNvSpPr/>
          <p:nvPr/>
        </p:nvSpPr>
        <p:spPr>
          <a:xfrm>
            <a:off x="538461" y="2452645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4E990632-B2BD-1F36-D22B-DAA800C61693}"/>
              </a:ext>
            </a:extLst>
          </p:cNvPr>
          <p:cNvSpPr/>
          <p:nvPr/>
        </p:nvSpPr>
        <p:spPr>
          <a:xfrm>
            <a:off x="537370" y="3246763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9F00AEA3-3A74-24A9-D8BC-3811B9EC203B}"/>
              </a:ext>
            </a:extLst>
          </p:cNvPr>
          <p:cNvSpPr/>
          <p:nvPr/>
        </p:nvSpPr>
        <p:spPr>
          <a:xfrm>
            <a:off x="550566" y="4040881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12102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40A7-1564-9640-AF68-893759E63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30DFBB-19A4-2282-034A-6CE91DBC205C}"/>
              </a:ext>
            </a:extLst>
          </p:cNvPr>
          <p:cNvSpPr>
            <a:spLocks noGrp="1"/>
          </p:cNvSpPr>
          <p:nvPr>
            <p:ph type="sldNum" idx="1"/>
          </p:nvPr>
        </p:nvSpPr>
        <p:spPr>
          <a:xfrm>
            <a:off x="9093107" y="4704588"/>
            <a:ext cx="480060" cy="273844"/>
          </a:xfrm>
        </p:spPr>
        <p:txBody>
          <a:bodyPr/>
          <a:lstStyle/>
          <a:p>
            <a:fld id="{7475F232-FFFE-5E6C-5554-2F165DAD28C0}" type="slidenum">
              <a:rPr lang="en-JP" smtClean="0"/>
              <a:t>8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33F0C07-ADF2-FDB0-FF3C-8059041238D1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b="0" dirty="0">
                <a:ea typeface="游ゴシック Medium"/>
                <a:cs typeface="Times New Roman"/>
              </a:rPr>
              <a:t>   Acquire pose predictions from DL model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BBB3F1-2966-E583-73CE-E7D6D97CF542}"/>
              </a:ext>
            </a:extLst>
          </p:cNvPr>
          <p:cNvSpPr txBox="1">
            <a:spLocks/>
          </p:cNvSpPr>
          <p:nvPr/>
        </p:nvSpPr>
        <p:spPr>
          <a:xfrm>
            <a:off x="5174865" y="1957018"/>
            <a:ext cx="3501591" cy="205489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Pose predictions</a:t>
            </a:r>
          </a:p>
          <a:p>
            <a:pPr lvl="1">
              <a:buClr>
                <a:srgbClr val="9E3611"/>
              </a:buClr>
            </a:pPr>
            <a:r>
              <a:rPr lang="en-US" sz="1850" b="0" dirty="0">
                <a:ea typeface="游ゴシック Medium"/>
                <a:cs typeface="Times New Roman"/>
              </a:rPr>
              <a:t>absolute poses T</a:t>
            </a:r>
            <a:r>
              <a:rPr lang="en-US" sz="1850" b="0" baseline="-25000" dirty="0">
                <a:ea typeface="游ゴシック Medium"/>
                <a:cs typeface="Times New Roman"/>
              </a:rPr>
              <a:t>i</a:t>
            </a:r>
          </a:p>
          <a:p>
            <a:pPr lvl="1">
              <a:buClr>
                <a:srgbClr val="9E3611"/>
              </a:buClr>
            </a:pPr>
            <a:r>
              <a:rPr lang="en-US" sz="1850" b="0" dirty="0">
                <a:ea typeface="游ゴシック Medium"/>
                <a:cs typeface="Times New Roman"/>
              </a:rPr>
              <a:t>relative transforms </a:t>
            </a:r>
            <a:r>
              <a:rPr lang="en-US" sz="185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85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i→i+1</a:t>
            </a:r>
            <a:endParaRPr lang="en-US" sz="1850" b="0" dirty="0">
              <a:solidFill>
                <a:schemeClr val="accent1"/>
              </a:solidFill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UR Frames/Images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Feature vectors (FVs)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B9E4B2AE-A502-AA09-1EE9-E7467E84773E}"/>
              </a:ext>
            </a:extLst>
          </p:cNvPr>
          <p:cNvSpPr/>
          <p:nvPr/>
        </p:nvSpPr>
        <p:spPr>
          <a:xfrm>
            <a:off x="107504" y="631125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pic>
        <p:nvPicPr>
          <p:cNvPr id="17" name="Picture 8" descr="Artificial Intelligence AI Icon SVG Vector &amp; PNG Free Download | UXWing">
            <a:extLst>
              <a:ext uri="{FF2B5EF4-FFF2-40B4-BE49-F238E27FC236}">
                <a16:creationId xmlns:a16="http://schemas.microsoft.com/office/drawing/2014/main" id="{4027E8FD-6D1B-1ABD-9CF7-EB9153908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1851670"/>
            <a:ext cx="936105" cy="936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2848509-CB3D-883E-B19B-7C1BEAE411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12" y="1939488"/>
            <a:ext cx="1140702" cy="76046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496AC3-8CCA-9F75-CF1A-446C0B14E973}"/>
              </a:ext>
            </a:extLst>
          </p:cNvPr>
          <p:cNvSpPr txBox="1"/>
          <p:nvPr/>
        </p:nvSpPr>
        <p:spPr>
          <a:xfrm>
            <a:off x="1079612" y="2699956"/>
            <a:ext cx="1438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游ゴシック Medium" panose="020B0500000000000000" pitchFamily="50" charset="-128"/>
              </a:rPr>
              <a:t>UR frames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85C89568-EFE9-1405-E238-0ABA4D260AFD}"/>
              </a:ext>
            </a:extLst>
          </p:cNvPr>
          <p:cNvSpPr/>
          <p:nvPr/>
        </p:nvSpPr>
        <p:spPr>
          <a:xfrm rot="16200000">
            <a:off x="2195738" y="2012107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8F7BFAA8-55FB-8F9B-2D9F-6DB62AB868E0}"/>
              </a:ext>
            </a:extLst>
          </p:cNvPr>
          <p:cNvSpPr/>
          <p:nvPr/>
        </p:nvSpPr>
        <p:spPr>
          <a:xfrm rot="16200000">
            <a:off x="4341473" y="2007882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DB2C2-EF86-CCBC-02C9-4DE39E4AF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93D7D0-4314-1A75-50EC-1B562C358BFB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9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2EE2B4-CECD-2CC9-22D6-EE3098A4DDF1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b="0" dirty="0">
                <a:ea typeface="游ゴシック Medium"/>
                <a:cs typeface="Times New Roman"/>
              </a:rPr>
              <a:t>   Build initial pose graph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444DA1-9224-48A5-DD0C-1730798FD5AE}"/>
              </a:ext>
            </a:extLst>
          </p:cNvPr>
          <p:cNvSpPr txBox="1">
            <a:spLocks/>
          </p:cNvSpPr>
          <p:nvPr/>
        </p:nvSpPr>
        <p:spPr>
          <a:xfrm>
            <a:off x="536218" y="1928804"/>
            <a:ext cx="939437" cy="72008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T</a:t>
            </a:r>
            <a:r>
              <a:rPr lang="en-US" sz="2000" b="0" baseline="-25000" dirty="0">
                <a:ea typeface="游ゴシック Medium"/>
                <a:cs typeface="Times New Roman"/>
              </a:rPr>
              <a:t>i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T</a:t>
            </a:r>
            <a:r>
              <a:rPr lang="en-US" sz="2000" b="0" baseline="-25000" dirty="0">
                <a:ea typeface="游ゴシック Medium"/>
                <a:cs typeface="Times New Roman"/>
              </a:rPr>
              <a:t>i→i+1</a:t>
            </a: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F167EF99-7ACF-634F-F145-E0A65D5CDAAE}"/>
              </a:ext>
            </a:extLst>
          </p:cNvPr>
          <p:cNvSpPr/>
          <p:nvPr/>
        </p:nvSpPr>
        <p:spPr>
          <a:xfrm>
            <a:off x="107504" y="631125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8" name="Picture 2" descr="Network Graph Nodes Connections Chart Data Points Trend Analysis ...">
            <a:extLst>
              <a:ext uri="{FF2B5EF4-FFF2-40B4-BE49-F238E27FC236}">
                <a16:creationId xmlns:a16="http://schemas.microsoft.com/office/drawing/2014/main" id="{127C20A5-4F6A-C7B9-688D-F4CB39C49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80279">
            <a:off x="2198703" y="1906222"/>
            <a:ext cx="2271720" cy="109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2F7F4102-36D2-C093-5A4A-341036E64ABE}"/>
              </a:ext>
            </a:extLst>
          </p:cNvPr>
          <p:cNvSpPr txBox="1">
            <a:spLocks/>
          </p:cNvSpPr>
          <p:nvPr/>
        </p:nvSpPr>
        <p:spPr>
          <a:xfrm>
            <a:off x="3641476" y="334043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AF10C4C6-D6EC-D290-1AF6-AB3660B7DD64}"/>
              </a:ext>
            </a:extLst>
          </p:cNvPr>
          <p:cNvSpPr txBox="1">
            <a:spLocks/>
          </p:cNvSpPr>
          <p:nvPr/>
        </p:nvSpPr>
        <p:spPr>
          <a:xfrm>
            <a:off x="3819739" y="2087658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EF591005-9BE4-1553-FA5A-2036E2BF7942}"/>
              </a:ext>
            </a:extLst>
          </p:cNvPr>
          <p:cNvSpPr txBox="1">
            <a:spLocks/>
          </p:cNvSpPr>
          <p:nvPr/>
        </p:nvSpPr>
        <p:spPr>
          <a:xfrm>
            <a:off x="2705372" y="1245070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46F97075-F679-8187-A8C2-4FE0F9EF5101}"/>
              </a:ext>
            </a:extLst>
          </p:cNvPr>
          <p:cNvSpPr txBox="1">
            <a:spLocks/>
          </p:cNvSpPr>
          <p:nvPr/>
        </p:nvSpPr>
        <p:spPr>
          <a:xfrm>
            <a:off x="2489347" y="2598053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D7CB9E37-7102-59F5-B7E4-22E6B30CF014}"/>
              </a:ext>
            </a:extLst>
          </p:cNvPr>
          <p:cNvSpPr txBox="1">
            <a:spLocks/>
          </p:cNvSpPr>
          <p:nvPr/>
        </p:nvSpPr>
        <p:spPr>
          <a:xfrm>
            <a:off x="3435593" y="1567638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2→3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AFD0B059-4BB4-D525-1034-A3747B826EF3}"/>
              </a:ext>
            </a:extLst>
          </p:cNvPr>
          <p:cNvSpPr txBox="1">
            <a:spLocks/>
          </p:cNvSpPr>
          <p:nvPr/>
        </p:nvSpPr>
        <p:spPr>
          <a:xfrm>
            <a:off x="2849387" y="2165425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1→2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4ACBFAA8-9BD9-4BF4-0533-924AA874BF50}"/>
              </a:ext>
            </a:extLst>
          </p:cNvPr>
          <p:cNvSpPr txBox="1">
            <a:spLocks/>
          </p:cNvSpPr>
          <p:nvPr/>
        </p:nvSpPr>
        <p:spPr>
          <a:xfrm>
            <a:off x="3248105" y="2834305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0→1</a:t>
            </a:r>
          </a:p>
        </p:txBody>
      </p:sp>
      <p:sp>
        <p:nvSpPr>
          <p:cNvPr id="18" name="Flowchart: Extract 17">
            <a:extLst>
              <a:ext uri="{FF2B5EF4-FFF2-40B4-BE49-F238E27FC236}">
                <a16:creationId xmlns:a16="http://schemas.microsoft.com/office/drawing/2014/main" id="{B3E44ADD-4E11-1C9F-4157-FE77C2EA83CE}"/>
              </a:ext>
            </a:extLst>
          </p:cNvPr>
          <p:cNvSpPr/>
          <p:nvPr/>
        </p:nvSpPr>
        <p:spPr>
          <a:xfrm>
            <a:off x="546630" y="4332902"/>
            <a:ext cx="571138" cy="429556"/>
          </a:xfrm>
          <a:prstGeom prst="flowChartExtra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游ゴシック Medium" panose="020B0500000000000000" pitchFamily="50" charset="-128"/>
            </a:endParaRP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1A81CBD9-A541-7082-6215-34675AAD0613}"/>
              </a:ext>
            </a:extLst>
          </p:cNvPr>
          <p:cNvSpPr txBox="1">
            <a:spLocks/>
          </p:cNvSpPr>
          <p:nvPr/>
        </p:nvSpPr>
        <p:spPr>
          <a:xfrm>
            <a:off x="688183" y="4406579"/>
            <a:ext cx="288031" cy="30405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9E3611"/>
              </a:buClr>
              <a:buNone/>
            </a:pPr>
            <a:r>
              <a:rPr lang="en-US" sz="2000" b="0" dirty="0">
                <a:solidFill>
                  <a:schemeClr val="bg1"/>
                </a:solidFill>
                <a:ea typeface="游ゴシック Medium"/>
                <a:cs typeface="Times New Roman"/>
              </a:rPr>
              <a:t>!</a:t>
            </a:r>
          </a:p>
          <a:p>
            <a:pPr marL="0" indent="0" algn="ctr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24" name="Text Placeholder 1">
            <a:extLst>
              <a:ext uri="{FF2B5EF4-FFF2-40B4-BE49-F238E27FC236}">
                <a16:creationId xmlns:a16="http://schemas.microsoft.com/office/drawing/2014/main" id="{CFB23DD1-22E0-6D7D-3B80-A0DFAE2DF40C}"/>
              </a:ext>
            </a:extLst>
          </p:cNvPr>
          <p:cNvSpPr txBox="1">
            <a:spLocks/>
          </p:cNvSpPr>
          <p:nvPr/>
        </p:nvSpPr>
        <p:spPr>
          <a:xfrm>
            <a:off x="1068672" y="4380946"/>
            <a:ext cx="7273120" cy="36680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This is not yet optimizable because of inherent consistency!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C6BF83E9-EB05-5C19-B99A-460AEA8541BB}"/>
              </a:ext>
            </a:extLst>
          </p:cNvPr>
          <p:cNvSpPr/>
          <p:nvPr/>
        </p:nvSpPr>
        <p:spPr>
          <a:xfrm rot="16200000">
            <a:off x="1603787" y="2049012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Placeholder 1">
                <a:extLst>
                  <a:ext uri="{FF2B5EF4-FFF2-40B4-BE49-F238E27FC236}">
                    <a16:creationId xmlns:a16="http://schemas.microsoft.com/office/drawing/2014/main" id="{BC4E5A4F-A91C-DE27-88C0-58F11C0F40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7691" y="818813"/>
                <a:ext cx="3772482" cy="1455296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t">
                <a:noAutofit/>
              </a:bodyPr>
              <a:lstStyle>
                <a:lvl1pPr marL="137160" indent="-137160" algn="l" defTabSz="685800" rtl="0" eaLnBrk="1" latinLnBrk="0" hangingPunct="1">
                  <a:lnSpc>
                    <a:spcPct val="90000"/>
                  </a:lnSpc>
                  <a:spcBef>
                    <a:spcPts val="900"/>
                  </a:spcBef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5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1pPr>
                <a:lvl2pPr marL="34290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35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2pPr>
                <a:lvl3pPr marL="54864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3pPr>
                <a:lvl4pPr marL="75438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4pPr>
                <a:lvl5pPr marL="960120" indent="-13716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b="1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5pPr>
                <a:lvl6pPr marL="1200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25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650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875000" indent="-171450" algn="l" defTabSz="685800" rtl="0" eaLnBrk="1" latinLnBrk="0" hangingPunct="1">
                  <a:lnSpc>
                    <a:spcPct val="90000"/>
                  </a:lnSpc>
                  <a:spcBef>
                    <a:spcPts val="300"/>
                  </a:spcBef>
                  <a:spcAft>
                    <a:spcPts val="150"/>
                  </a:spcAft>
                  <a:buClr>
                    <a:schemeClr val="accent1">
                      <a:lumMod val="75000"/>
                    </a:schemeClr>
                  </a:buClr>
                  <a:buSzPct val="100000"/>
                  <a:buFont typeface="Arial" panose="020B0604020202020204" pitchFamily="34" charset="0"/>
                  <a:buChar char="•"/>
                  <a:defRPr kumimoji="1"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>
                    <a:srgbClr val="9E3611"/>
                  </a:buClr>
                  <a:buNone/>
                </a:pPr>
                <a:r>
                  <a:rPr lang="pt-BR" sz="2000" dirty="0">
                    <a:ea typeface="游ゴシック Medium"/>
                    <a:cs typeface="Times New Roman"/>
                  </a:rPr>
                  <a:t>Cost function</a:t>
                </a:r>
              </a:p>
              <a:p>
                <a:pPr marL="0" indent="0">
                  <a:buClr>
                    <a:srgbClr val="9E3611"/>
                  </a:buClr>
                  <a:buNone/>
                </a:pPr>
                <a:r>
                  <a:rPr lang="pt-BR" sz="2000" b="0" dirty="0">
                    <a:ea typeface="游ゴシック Medium"/>
                    <a:cs typeface="Times New Roman"/>
                  </a:rPr>
                  <a:t>e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2000" b="0" i="1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</m:ctrlPr>
                      </m:naryPr>
                      <m:sub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𝑘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=0</m:t>
                        </m:r>
                      </m:sub>
                      <m:sup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log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⁡(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𝑇</m:t>
                            </m:r>
                            <m:r>
                              <a:rPr lang="en-US" sz="2000" b="0" i="1" baseline="-25000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𝑖𝑗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∙(</m:t>
                        </m:r>
                        <m:sSup>
                          <m:sSupPr>
                            <m:ctrlPr>
                              <a:rPr lang="en-US" sz="2000" b="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2000" b="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𝑇</m:t>
                            </m:r>
                            <m:r>
                              <a:rPr lang="en-US" sz="2000" b="0" i="1" baseline="-25000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𝑖</m:t>
                            </m:r>
                          </m:e>
                          <m:sup>
                            <m:r>
                              <a:rPr lang="en-US" sz="2000" b="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∙</m:t>
                        </m:r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𝑇𝑗</m:t>
                        </m:r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))</m:t>
                        </m:r>
                      </m:e>
                    </m:nary>
                  </m:oMath>
                </a14:m>
                <a:endParaRPr lang="en-US" sz="2000" b="0" dirty="0"/>
              </a:p>
              <a:p>
                <a:pPr marL="0" indent="0">
                  <a:buClr>
                    <a:srgbClr val="9E3611"/>
                  </a:buClr>
                  <a:buNone/>
                </a:pPr>
                <a:r>
                  <a:rPr lang="en-US" sz="2000" b="0" dirty="0"/>
                  <a:t>➔ Minimize inconsistency by adjusting nodes T</a:t>
                </a:r>
                <a:r>
                  <a:rPr lang="en-US" sz="2000" b="0" baseline="-25000" dirty="0"/>
                  <a:t>i</a:t>
                </a:r>
                <a:endParaRPr lang="en-US" sz="2000" b="0" baseline="-25000" dirty="0">
                  <a:ea typeface="游ゴシック Medium"/>
                  <a:cs typeface="Times New Roman"/>
                </a:endParaRPr>
              </a:p>
            </p:txBody>
          </p:sp>
        </mc:Choice>
        <mc:Fallback>
          <p:sp>
            <p:nvSpPr>
              <p:cNvPr id="26" name="Text Placeholder 1">
                <a:extLst>
                  <a:ext uri="{FF2B5EF4-FFF2-40B4-BE49-F238E27FC236}">
                    <a16:creationId xmlns:a16="http://schemas.microsoft.com/office/drawing/2014/main" id="{BC4E5A4F-A91C-DE27-88C0-58F11C0F4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691" y="818813"/>
                <a:ext cx="3772482" cy="1455296"/>
              </a:xfrm>
              <a:prstGeom prst="rect">
                <a:avLst/>
              </a:prstGeom>
              <a:blipFill>
                <a:blip r:embed="rId3"/>
                <a:stretch>
                  <a:fillRect l="-1616" t="-9205" b="-5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10419A5A-52BE-AF24-4118-FA87D47E8824}"/>
              </a:ext>
            </a:extLst>
          </p:cNvPr>
          <p:cNvSpPr txBox="1">
            <a:spLocks/>
          </p:cNvSpPr>
          <p:nvPr/>
        </p:nvSpPr>
        <p:spPr>
          <a:xfrm>
            <a:off x="4757691" y="2547461"/>
            <a:ext cx="3772482" cy="169588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pt-BR" sz="2000" dirty="0">
                <a:ea typeface="游ゴシック Medium"/>
                <a:cs typeface="Times New Roman"/>
              </a:rPr>
              <a:t>Noise Model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Normal, Cauchy, Huber etc.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/>
              <a:t>➔ Assume small inconsistencies in graph values</a:t>
            </a:r>
            <a:endParaRPr lang="pt-BR" sz="2000" b="0" dirty="0">
              <a:ea typeface="游ゴシック Medium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5823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B4D58-C59E-21A1-020A-98AD700E6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196AD3-B134-91A8-0499-1058F1BDEFF0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10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2054E6-FCB0-6BF9-AAC2-2305C2489F03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b="0" dirty="0">
                <a:ea typeface="游ゴシック Medium"/>
                <a:cs typeface="Times New Roman"/>
              </a:rPr>
              <a:t>   Detour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7C612AF-623D-4258-A69B-EB38616D7C2A}"/>
              </a:ext>
            </a:extLst>
          </p:cNvPr>
          <p:cNvSpPr txBox="1">
            <a:spLocks/>
          </p:cNvSpPr>
          <p:nvPr/>
        </p:nvSpPr>
        <p:spPr>
          <a:xfrm>
            <a:off x="251520" y="774789"/>
            <a:ext cx="8640960" cy="24345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Image Registration (IR)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Find transform which makes one image align with another</a:t>
            </a: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pic>
        <p:nvPicPr>
          <p:cNvPr id="4102" name="Picture 6" descr="Basic example of an image registration procedure. F is the target image, M is the image to be registered, and R′ is the registered image. ">
            <a:extLst>
              <a:ext uri="{FF2B5EF4-FFF2-40B4-BE49-F238E27FC236}">
                <a16:creationId xmlns:a16="http://schemas.microsoft.com/office/drawing/2014/main" id="{1DB7BB4B-FC9B-F6D8-8907-BD3E07DCD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850867"/>
            <a:ext cx="5128245" cy="135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44C7BA8-64B3-5E1C-019E-EAFD70D8F2D1}"/>
              </a:ext>
            </a:extLst>
          </p:cNvPr>
          <p:cNvSpPr txBox="1"/>
          <p:nvPr/>
        </p:nvSpPr>
        <p:spPr>
          <a:xfrm>
            <a:off x="683568" y="3170146"/>
            <a:ext cx="6648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游ゴシック Medium" panose="020B0500000000000000" pitchFamily="50" charset="-128"/>
              </a:rPr>
              <a:t>Source: https://www.researchgate.net/figure/Basic-example-of-an-image-registration-procedure-F-is-the-target-image-M-is-the-image_fig4_320212021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1A63AA-5969-F9FC-C2D0-A6B6788CA453}"/>
              </a:ext>
            </a:extLst>
          </p:cNvPr>
          <p:cNvSpPr txBox="1"/>
          <p:nvPr/>
        </p:nvSpPr>
        <p:spPr>
          <a:xfrm>
            <a:off x="284138" y="4084367"/>
            <a:ext cx="8361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游ゴシック Medium" panose="020B0500000000000000" pitchFamily="50" charset="-128"/>
              </a:rPr>
              <a:t>➔ </a:t>
            </a:r>
            <a:r>
              <a:rPr lang="en-US" sz="2000" dirty="0">
                <a:latin typeface="游ゴシック Medium" panose="020B0500000000000000" pitchFamily="50" charset="-128"/>
              </a:rPr>
              <a:t>Create new edges for non-adjacent pairs of frame (</a:t>
            </a:r>
            <a:r>
              <a:rPr lang="en-US" sz="2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 - j &gt;= k, k &gt; 1</a:t>
            </a:r>
            <a:r>
              <a:rPr lang="en-US" sz="2000" dirty="0">
                <a:latin typeface="游ゴシック Medium" panose="020B0500000000000000" pitchFamily="50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23070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975A3-FA32-68F3-8707-E4315FD22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96C6EC7E-7F50-6209-A85B-71FB535432F8}"/>
              </a:ext>
            </a:extLst>
          </p:cNvPr>
          <p:cNvSpPr/>
          <p:nvPr/>
        </p:nvSpPr>
        <p:spPr>
          <a:xfrm>
            <a:off x="7655406" y="2650992"/>
            <a:ext cx="252929" cy="833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808592E-5722-DE58-5E79-194862443153}"/>
              </a:ext>
            </a:extLst>
          </p:cNvPr>
          <p:cNvSpPr/>
          <p:nvPr/>
        </p:nvSpPr>
        <p:spPr>
          <a:xfrm rot="4213046">
            <a:off x="7780971" y="3090007"/>
            <a:ext cx="825001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3510FCE-1FC8-760D-6512-28F81838A2AB}"/>
              </a:ext>
            </a:extLst>
          </p:cNvPr>
          <p:cNvSpPr/>
          <p:nvPr/>
        </p:nvSpPr>
        <p:spPr>
          <a:xfrm rot="3348196">
            <a:off x="4568029" y="3216995"/>
            <a:ext cx="1406649" cy="52549"/>
          </a:xfrm>
          <a:prstGeom prst="rect">
            <a:avLst/>
          </a:prstGeom>
          <a:pattFill prst="smGrid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854F44-FE2D-1571-4FB3-AD7D5A3B1298}"/>
              </a:ext>
            </a:extLst>
          </p:cNvPr>
          <p:cNvSpPr/>
          <p:nvPr/>
        </p:nvSpPr>
        <p:spPr>
          <a:xfrm>
            <a:off x="1546829" y="3769232"/>
            <a:ext cx="825001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2CCF74-C2F8-942A-52BB-297D9A0E72DE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11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0628A5B-DC77-B06E-6202-5619D96D055A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b="0" dirty="0">
                <a:ea typeface="游ゴシック Medium"/>
                <a:cs typeface="Times New Roman"/>
              </a:rPr>
              <a:t>   Detour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DD2E217F-32F2-9489-4B67-54B4C789D3E4}"/>
              </a:ext>
            </a:extLst>
          </p:cNvPr>
          <p:cNvSpPr txBox="1">
            <a:spLocks/>
          </p:cNvSpPr>
          <p:nvPr/>
        </p:nvSpPr>
        <p:spPr>
          <a:xfrm>
            <a:off x="180924" y="699983"/>
            <a:ext cx="8640960" cy="380806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Loop Closure (LC)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1800" b="0" dirty="0">
                <a:ea typeface="游ゴシック Medium"/>
                <a:cs typeface="Times New Roman"/>
              </a:rPr>
              <a:t>Recognize already visited scan areas by comparing FVs found by DL model</a:t>
            </a: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>
              <a:buClr>
                <a:srgbClr val="9E3611"/>
              </a:buClr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pic>
        <p:nvPicPr>
          <p:cNvPr id="2" name="Picture 1" descr="A black and white image of a molecule&#10;&#10;AI-generated content may be incorrect.">
            <a:extLst>
              <a:ext uri="{FF2B5EF4-FFF2-40B4-BE49-F238E27FC236}">
                <a16:creationId xmlns:a16="http://schemas.microsoft.com/office/drawing/2014/main" id="{40EB5312-23D6-1C3B-7EEF-E4AF7652D7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09" y="1524118"/>
            <a:ext cx="1690432" cy="2485929"/>
          </a:xfrm>
          <a:prstGeom prst="rect">
            <a:avLst/>
          </a:prstGeo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F7AE8810-A353-F2A3-A426-9EF59931DA8D}"/>
              </a:ext>
            </a:extLst>
          </p:cNvPr>
          <p:cNvSpPr/>
          <p:nvPr/>
        </p:nvSpPr>
        <p:spPr>
          <a:xfrm>
            <a:off x="2306004" y="3625216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E6B7D6C-C578-D9E7-C09D-A27CC04CAE9D}"/>
              </a:ext>
            </a:extLst>
          </p:cNvPr>
          <p:cNvSpPr txBox="1">
            <a:spLocks/>
          </p:cNvSpPr>
          <p:nvPr/>
        </p:nvSpPr>
        <p:spPr>
          <a:xfrm>
            <a:off x="820790" y="3662878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A5222C98-88F6-F910-C7B4-C9EA4B413A71}"/>
              </a:ext>
            </a:extLst>
          </p:cNvPr>
          <p:cNvSpPr txBox="1">
            <a:spLocks/>
          </p:cNvSpPr>
          <p:nvPr/>
        </p:nvSpPr>
        <p:spPr>
          <a:xfrm>
            <a:off x="1881674" y="2452994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A012531F-88FA-40D2-37B1-2DC2D2109BED}"/>
              </a:ext>
            </a:extLst>
          </p:cNvPr>
          <p:cNvSpPr txBox="1">
            <a:spLocks/>
          </p:cNvSpPr>
          <p:nvPr/>
        </p:nvSpPr>
        <p:spPr>
          <a:xfrm>
            <a:off x="640770" y="1604067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88EA581-CDB0-B2D3-9911-E9FDCC7BD869}"/>
              </a:ext>
            </a:extLst>
          </p:cNvPr>
          <p:cNvSpPr txBox="1">
            <a:spLocks/>
          </p:cNvSpPr>
          <p:nvPr/>
        </p:nvSpPr>
        <p:spPr>
          <a:xfrm>
            <a:off x="424745" y="2957050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F2DC2D13-4B90-CF18-28B0-764EE8B62FA9}"/>
              </a:ext>
            </a:extLst>
          </p:cNvPr>
          <p:cNvSpPr txBox="1">
            <a:spLocks/>
          </p:cNvSpPr>
          <p:nvPr/>
        </p:nvSpPr>
        <p:spPr>
          <a:xfrm>
            <a:off x="1432779" y="1924861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2→3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37DE9898-C9EA-832F-37ED-AE6999400214}"/>
              </a:ext>
            </a:extLst>
          </p:cNvPr>
          <p:cNvSpPr txBox="1">
            <a:spLocks/>
          </p:cNvSpPr>
          <p:nvPr/>
        </p:nvSpPr>
        <p:spPr>
          <a:xfrm>
            <a:off x="784785" y="2524422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1→2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6D0E7CDB-C80A-8B0D-2DF9-084AAB15CA66}"/>
              </a:ext>
            </a:extLst>
          </p:cNvPr>
          <p:cNvSpPr txBox="1">
            <a:spLocks/>
          </p:cNvSpPr>
          <p:nvPr/>
        </p:nvSpPr>
        <p:spPr>
          <a:xfrm>
            <a:off x="1183503" y="3193302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0→1</a:t>
            </a:r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A82A0742-40A9-1968-B0ED-29D39598A2EE}"/>
              </a:ext>
            </a:extLst>
          </p:cNvPr>
          <p:cNvSpPr txBox="1">
            <a:spLocks/>
          </p:cNvSpPr>
          <p:nvPr/>
        </p:nvSpPr>
        <p:spPr>
          <a:xfrm>
            <a:off x="3330271" y="3635330"/>
            <a:ext cx="288031" cy="30405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9E3611"/>
              </a:buClr>
              <a:buNone/>
            </a:pPr>
            <a:r>
              <a:rPr lang="en-US" sz="2000" b="0" dirty="0">
                <a:solidFill>
                  <a:schemeClr val="bg1"/>
                </a:solidFill>
                <a:ea typeface="游ゴシック Medium"/>
                <a:cs typeface="Times New Roman"/>
              </a:rPr>
              <a:t>!</a:t>
            </a:r>
          </a:p>
          <a:p>
            <a:pPr marL="0" indent="0" algn="ctr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F6A28E6C-AAFA-2182-B0BF-8DE35752FF41}"/>
              </a:ext>
            </a:extLst>
          </p:cNvPr>
          <p:cNvSpPr txBox="1">
            <a:spLocks/>
          </p:cNvSpPr>
          <p:nvPr/>
        </p:nvSpPr>
        <p:spPr>
          <a:xfrm>
            <a:off x="2030042" y="4018175"/>
            <a:ext cx="983346" cy="252384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FV 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4</a:t>
            </a: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 </a:t>
            </a:r>
            <a:r>
              <a:rPr lang="en-US" sz="1200" b="0" dirty="0">
                <a:solidFill>
                  <a:schemeClr val="accent1"/>
                </a:solidFill>
              </a:rPr>
              <a:t>≈</a:t>
            </a: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 FV 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2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E15E37-26DA-1E2D-9BA6-EB1087E675D7}"/>
              </a:ext>
            </a:extLst>
          </p:cNvPr>
          <p:cNvSpPr/>
          <p:nvPr/>
        </p:nvSpPr>
        <p:spPr>
          <a:xfrm>
            <a:off x="4732886" y="3792106"/>
            <a:ext cx="825001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black and white image of a molecule&#10;&#10;AI-generated content may be incorrect.">
            <a:extLst>
              <a:ext uri="{FF2B5EF4-FFF2-40B4-BE49-F238E27FC236}">
                <a16:creationId xmlns:a16="http://schemas.microsoft.com/office/drawing/2014/main" id="{6185D711-4863-C5DF-7CCD-8BF1919D18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766" y="1546992"/>
            <a:ext cx="1690432" cy="2485929"/>
          </a:xfrm>
          <a:prstGeom prst="rect">
            <a:avLst/>
          </a:prstGeom>
        </p:spPr>
      </p:pic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94D250A5-E21D-B229-FADF-73CB8EE1507A}"/>
              </a:ext>
            </a:extLst>
          </p:cNvPr>
          <p:cNvSpPr/>
          <p:nvPr/>
        </p:nvSpPr>
        <p:spPr>
          <a:xfrm>
            <a:off x="5492061" y="3648090"/>
            <a:ext cx="360040" cy="36004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DDC992F0-6388-C075-A30B-5F79A64A9B77}"/>
              </a:ext>
            </a:extLst>
          </p:cNvPr>
          <p:cNvSpPr txBox="1">
            <a:spLocks/>
          </p:cNvSpPr>
          <p:nvPr/>
        </p:nvSpPr>
        <p:spPr>
          <a:xfrm>
            <a:off x="4006847" y="3685752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C36996F5-540A-494B-1DDE-92683F5BA8AC}"/>
              </a:ext>
            </a:extLst>
          </p:cNvPr>
          <p:cNvSpPr txBox="1">
            <a:spLocks/>
          </p:cNvSpPr>
          <p:nvPr/>
        </p:nvSpPr>
        <p:spPr>
          <a:xfrm>
            <a:off x="5067731" y="2475868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28" name="Text Placeholder 1">
            <a:extLst>
              <a:ext uri="{FF2B5EF4-FFF2-40B4-BE49-F238E27FC236}">
                <a16:creationId xmlns:a16="http://schemas.microsoft.com/office/drawing/2014/main" id="{545ECF7D-26A5-F947-1493-063092D058EC}"/>
              </a:ext>
            </a:extLst>
          </p:cNvPr>
          <p:cNvSpPr txBox="1">
            <a:spLocks/>
          </p:cNvSpPr>
          <p:nvPr/>
        </p:nvSpPr>
        <p:spPr>
          <a:xfrm>
            <a:off x="3826827" y="1626941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29" name="Text Placeholder 1">
            <a:extLst>
              <a:ext uri="{FF2B5EF4-FFF2-40B4-BE49-F238E27FC236}">
                <a16:creationId xmlns:a16="http://schemas.microsoft.com/office/drawing/2014/main" id="{82F5FCED-B1FE-1532-EB48-4DB72D2E9CDF}"/>
              </a:ext>
            </a:extLst>
          </p:cNvPr>
          <p:cNvSpPr txBox="1">
            <a:spLocks/>
          </p:cNvSpPr>
          <p:nvPr/>
        </p:nvSpPr>
        <p:spPr>
          <a:xfrm>
            <a:off x="3610802" y="2979924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FD41C7EB-2365-EE4E-A5DF-FF21C2D330E1}"/>
              </a:ext>
            </a:extLst>
          </p:cNvPr>
          <p:cNvSpPr txBox="1">
            <a:spLocks/>
          </p:cNvSpPr>
          <p:nvPr/>
        </p:nvSpPr>
        <p:spPr>
          <a:xfrm>
            <a:off x="4638711" y="194866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2→3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3E910607-3466-D36A-97A6-89A8F9207E4A}"/>
              </a:ext>
            </a:extLst>
          </p:cNvPr>
          <p:cNvSpPr txBox="1">
            <a:spLocks/>
          </p:cNvSpPr>
          <p:nvPr/>
        </p:nvSpPr>
        <p:spPr>
          <a:xfrm>
            <a:off x="3970842" y="254729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1→2</a:t>
            </a:r>
          </a:p>
        </p:txBody>
      </p:sp>
      <p:sp>
        <p:nvSpPr>
          <p:cNvPr id="32" name="Text Placeholder 1">
            <a:extLst>
              <a:ext uri="{FF2B5EF4-FFF2-40B4-BE49-F238E27FC236}">
                <a16:creationId xmlns:a16="http://schemas.microsoft.com/office/drawing/2014/main" id="{819310BC-6582-C39D-CC58-BA0284771125}"/>
              </a:ext>
            </a:extLst>
          </p:cNvPr>
          <p:cNvSpPr txBox="1">
            <a:spLocks/>
          </p:cNvSpPr>
          <p:nvPr/>
        </p:nvSpPr>
        <p:spPr>
          <a:xfrm>
            <a:off x="4369560" y="321617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0→1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A8D14FDE-E1BD-016B-C849-143E15CEB1B0}"/>
              </a:ext>
            </a:extLst>
          </p:cNvPr>
          <p:cNvSpPr txBox="1">
            <a:spLocks/>
          </p:cNvSpPr>
          <p:nvPr/>
        </p:nvSpPr>
        <p:spPr>
          <a:xfrm>
            <a:off x="8880390" y="3519996"/>
            <a:ext cx="288031" cy="30405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9E3611"/>
              </a:buClr>
              <a:buNone/>
            </a:pPr>
            <a:r>
              <a:rPr lang="en-US" sz="2000" b="0" dirty="0">
                <a:solidFill>
                  <a:schemeClr val="bg1"/>
                </a:solidFill>
                <a:ea typeface="游ゴシック Medium"/>
                <a:cs typeface="Times New Roman"/>
              </a:rPr>
              <a:t>!</a:t>
            </a:r>
          </a:p>
          <a:p>
            <a:pPr marL="0" indent="0" algn="ctr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36" name="Text Placeholder 1">
            <a:extLst>
              <a:ext uri="{FF2B5EF4-FFF2-40B4-BE49-F238E27FC236}">
                <a16:creationId xmlns:a16="http://schemas.microsoft.com/office/drawing/2014/main" id="{91CB8E03-7267-E97D-1EE0-E6D60652B0AD}"/>
              </a:ext>
            </a:extLst>
          </p:cNvPr>
          <p:cNvSpPr txBox="1">
            <a:spLocks/>
          </p:cNvSpPr>
          <p:nvPr/>
        </p:nvSpPr>
        <p:spPr>
          <a:xfrm>
            <a:off x="5336191" y="2965394"/>
            <a:ext cx="552556" cy="27357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4→2</a:t>
            </a:r>
          </a:p>
        </p:txBody>
      </p:sp>
      <p:pic>
        <p:nvPicPr>
          <p:cNvPr id="43" name="Picture 42" descr="A black and white image of a barbell&#10;&#10;AI-generated content may be incorrect.">
            <a:extLst>
              <a:ext uri="{FF2B5EF4-FFF2-40B4-BE49-F238E27FC236}">
                <a16:creationId xmlns:a16="http://schemas.microsoft.com/office/drawing/2014/main" id="{05514B35-7B9F-7572-12B1-68F9F80A9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7556">
            <a:off x="6915489" y="2349648"/>
            <a:ext cx="1275965" cy="1448620"/>
          </a:xfrm>
          <a:prstGeom prst="rect">
            <a:avLst/>
          </a:prstGeom>
        </p:spPr>
      </p:pic>
      <p:pic>
        <p:nvPicPr>
          <p:cNvPr id="44" name="Picture 43" descr="A black and white image of a barbell&#10;&#10;AI-generated content may be incorrect.">
            <a:extLst>
              <a:ext uri="{FF2B5EF4-FFF2-40B4-BE49-F238E27FC236}">
                <a16:creationId xmlns:a16="http://schemas.microsoft.com/office/drawing/2014/main" id="{F94FB671-C29E-5E78-FA75-7FA4134AF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930002">
            <a:off x="7242210" y="2813613"/>
            <a:ext cx="1275965" cy="1448620"/>
          </a:xfrm>
          <a:prstGeom prst="rect">
            <a:avLst/>
          </a:prstGeom>
        </p:spPr>
      </p:pic>
      <p:sp>
        <p:nvSpPr>
          <p:cNvPr id="46" name="Flowchart: Connector 45">
            <a:extLst>
              <a:ext uri="{FF2B5EF4-FFF2-40B4-BE49-F238E27FC236}">
                <a16:creationId xmlns:a16="http://schemas.microsoft.com/office/drawing/2014/main" id="{2779775F-57B4-0784-BF6E-FA3EEDACDCBB}"/>
              </a:ext>
            </a:extLst>
          </p:cNvPr>
          <p:cNvSpPr/>
          <p:nvPr/>
        </p:nvSpPr>
        <p:spPr>
          <a:xfrm>
            <a:off x="7822416" y="2516767"/>
            <a:ext cx="360040" cy="360040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 Placeholder 1">
            <a:extLst>
              <a:ext uri="{FF2B5EF4-FFF2-40B4-BE49-F238E27FC236}">
                <a16:creationId xmlns:a16="http://schemas.microsoft.com/office/drawing/2014/main" id="{99436959-F294-01C5-32E7-C1720E35746E}"/>
              </a:ext>
            </a:extLst>
          </p:cNvPr>
          <p:cNvSpPr txBox="1">
            <a:spLocks/>
          </p:cNvSpPr>
          <p:nvPr/>
        </p:nvSpPr>
        <p:spPr>
          <a:xfrm>
            <a:off x="7505679" y="2280929"/>
            <a:ext cx="515704" cy="32375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4</a:t>
            </a:r>
            <a:r>
              <a:rPr lang="en-US" sz="120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→2</a:t>
            </a:r>
          </a:p>
        </p:txBody>
      </p:sp>
      <p:pic>
        <p:nvPicPr>
          <p:cNvPr id="50" name="Picture 49" descr="A black and white image of a barbell&#10;&#10;AI-generated content may be incorrect.">
            <a:extLst>
              <a:ext uri="{FF2B5EF4-FFF2-40B4-BE49-F238E27FC236}">
                <a16:creationId xmlns:a16="http://schemas.microsoft.com/office/drawing/2014/main" id="{FD217D51-A11D-36E1-D875-8EF87C0BB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7556">
            <a:off x="6921618" y="1448762"/>
            <a:ext cx="1275965" cy="1448620"/>
          </a:xfrm>
          <a:prstGeom prst="rect">
            <a:avLst/>
          </a:prstGeom>
        </p:spPr>
      </p:pic>
      <p:sp>
        <p:nvSpPr>
          <p:cNvPr id="51" name="Text Placeholder 1">
            <a:extLst>
              <a:ext uri="{FF2B5EF4-FFF2-40B4-BE49-F238E27FC236}">
                <a16:creationId xmlns:a16="http://schemas.microsoft.com/office/drawing/2014/main" id="{0AAC5E63-14C1-FD8B-3656-AF7ED0B10D8A}"/>
              </a:ext>
            </a:extLst>
          </p:cNvPr>
          <p:cNvSpPr txBox="1">
            <a:spLocks/>
          </p:cNvSpPr>
          <p:nvPr/>
        </p:nvSpPr>
        <p:spPr>
          <a:xfrm>
            <a:off x="7000158" y="1632271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52" name="Text Placeholder 1">
            <a:extLst>
              <a:ext uri="{FF2B5EF4-FFF2-40B4-BE49-F238E27FC236}">
                <a16:creationId xmlns:a16="http://schemas.microsoft.com/office/drawing/2014/main" id="{421B45AE-4023-18F3-440F-676B2F525833}"/>
              </a:ext>
            </a:extLst>
          </p:cNvPr>
          <p:cNvSpPr txBox="1">
            <a:spLocks/>
          </p:cNvSpPr>
          <p:nvPr/>
        </p:nvSpPr>
        <p:spPr>
          <a:xfrm>
            <a:off x="6988816" y="203198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2→3</a:t>
            </a:r>
          </a:p>
        </p:txBody>
      </p:sp>
      <p:sp>
        <p:nvSpPr>
          <p:cNvPr id="53" name="Text Placeholder 1">
            <a:extLst>
              <a:ext uri="{FF2B5EF4-FFF2-40B4-BE49-F238E27FC236}">
                <a16:creationId xmlns:a16="http://schemas.microsoft.com/office/drawing/2014/main" id="{DD363EDA-B337-0A23-8DCB-2E2B023F9337}"/>
              </a:ext>
            </a:extLst>
          </p:cNvPr>
          <p:cNvSpPr txBox="1">
            <a:spLocks/>
          </p:cNvSpPr>
          <p:nvPr/>
        </p:nvSpPr>
        <p:spPr>
          <a:xfrm>
            <a:off x="6975119" y="2954461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1→2</a:t>
            </a:r>
          </a:p>
        </p:txBody>
      </p:sp>
      <p:sp>
        <p:nvSpPr>
          <p:cNvPr id="54" name="Text Placeholder 1">
            <a:extLst>
              <a:ext uri="{FF2B5EF4-FFF2-40B4-BE49-F238E27FC236}">
                <a16:creationId xmlns:a16="http://schemas.microsoft.com/office/drawing/2014/main" id="{29EF20B6-D8F7-927F-3306-CF0CEB0B1985}"/>
              </a:ext>
            </a:extLst>
          </p:cNvPr>
          <p:cNvSpPr txBox="1">
            <a:spLocks/>
          </p:cNvSpPr>
          <p:nvPr/>
        </p:nvSpPr>
        <p:spPr>
          <a:xfrm>
            <a:off x="7060873" y="2323051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55" name="Text Placeholder 1">
            <a:extLst>
              <a:ext uri="{FF2B5EF4-FFF2-40B4-BE49-F238E27FC236}">
                <a16:creationId xmlns:a16="http://schemas.microsoft.com/office/drawing/2014/main" id="{FE68FEEB-0393-42B3-C8B6-F6F95B0D896B}"/>
              </a:ext>
            </a:extLst>
          </p:cNvPr>
          <p:cNvSpPr txBox="1">
            <a:spLocks/>
          </p:cNvSpPr>
          <p:nvPr/>
        </p:nvSpPr>
        <p:spPr>
          <a:xfrm>
            <a:off x="7031944" y="3461607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56" name="Text Placeholder 1">
            <a:extLst>
              <a:ext uri="{FF2B5EF4-FFF2-40B4-BE49-F238E27FC236}">
                <a16:creationId xmlns:a16="http://schemas.microsoft.com/office/drawing/2014/main" id="{A970A4AB-4861-E0DC-51C3-E4F5446FC099}"/>
              </a:ext>
            </a:extLst>
          </p:cNvPr>
          <p:cNvSpPr txBox="1">
            <a:spLocks/>
          </p:cNvSpPr>
          <p:nvPr/>
        </p:nvSpPr>
        <p:spPr>
          <a:xfrm>
            <a:off x="8250548" y="3828867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57" name="Text Placeholder 1">
            <a:extLst>
              <a:ext uri="{FF2B5EF4-FFF2-40B4-BE49-F238E27FC236}">
                <a16:creationId xmlns:a16="http://schemas.microsoft.com/office/drawing/2014/main" id="{DDFE4415-7E60-F2D9-88A9-33F270C5E0F3}"/>
              </a:ext>
            </a:extLst>
          </p:cNvPr>
          <p:cNvSpPr txBox="1">
            <a:spLocks/>
          </p:cNvSpPr>
          <p:nvPr/>
        </p:nvSpPr>
        <p:spPr>
          <a:xfrm>
            <a:off x="7679621" y="3675352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0→1</a:t>
            </a:r>
          </a:p>
        </p:txBody>
      </p:sp>
      <p:sp>
        <p:nvSpPr>
          <p:cNvPr id="58" name="Text Placeholder 1">
            <a:extLst>
              <a:ext uri="{FF2B5EF4-FFF2-40B4-BE49-F238E27FC236}">
                <a16:creationId xmlns:a16="http://schemas.microsoft.com/office/drawing/2014/main" id="{5BB7E28C-367D-54EF-B98A-4895E9248968}"/>
              </a:ext>
            </a:extLst>
          </p:cNvPr>
          <p:cNvSpPr txBox="1">
            <a:spLocks/>
          </p:cNvSpPr>
          <p:nvPr/>
        </p:nvSpPr>
        <p:spPr>
          <a:xfrm>
            <a:off x="1627445" y="3487284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0→4</a:t>
            </a:r>
          </a:p>
        </p:txBody>
      </p:sp>
      <p:sp>
        <p:nvSpPr>
          <p:cNvPr id="59" name="Text Placeholder 1">
            <a:extLst>
              <a:ext uri="{FF2B5EF4-FFF2-40B4-BE49-F238E27FC236}">
                <a16:creationId xmlns:a16="http://schemas.microsoft.com/office/drawing/2014/main" id="{DEAAE9CB-B11A-4A08-B3CD-D0C048ED510D}"/>
              </a:ext>
            </a:extLst>
          </p:cNvPr>
          <p:cNvSpPr txBox="1">
            <a:spLocks/>
          </p:cNvSpPr>
          <p:nvPr/>
        </p:nvSpPr>
        <p:spPr>
          <a:xfrm>
            <a:off x="4801392" y="3511235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0→4</a:t>
            </a:r>
          </a:p>
        </p:txBody>
      </p:sp>
      <p:sp>
        <p:nvSpPr>
          <p:cNvPr id="60" name="Text Placeholder 1">
            <a:extLst>
              <a:ext uri="{FF2B5EF4-FFF2-40B4-BE49-F238E27FC236}">
                <a16:creationId xmlns:a16="http://schemas.microsoft.com/office/drawing/2014/main" id="{471B71F6-E0DB-6592-2089-18DF2B6B52D3}"/>
              </a:ext>
            </a:extLst>
          </p:cNvPr>
          <p:cNvSpPr txBox="1">
            <a:spLocks/>
          </p:cNvSpPr>
          <p:nvPr/>
        </p:nvSpPr>
        <p:spPr>
          <a:xfrm>
            <a:off x="8183907" y="2929652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0→4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324A92B-6781-5B27-16B5-0F8C61D03E70}"/>
              </a:ext>
            </a:extLst>
          </p:cNvPr>
          <p:cNvSpPr txBox="1"/>
          <p:nvPr/>
        </p:nvSpPr>
        <p:spPr>
          <a:xfrm>
            <a:off x="322116" y="4417248"/>
            <a:ext cx="67425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游ゴシック Medium" panose="020B0500000000000000" pitchFamily="50" charset="-128"/>
              </a:rPr>
              <a:t>➔ </a:t>
            </a:r>
            <a:r>
              <a:rPr lang="en-US" sz="2000" dirty="0">
                <a:latin typeface="游ゴシック Medium" panose="020B0500000000000000" pitchFamily="50" charset="-128"/>
              </a:rPr>
              <a:t>Create new edges for pairs of frames exhibiting a LC</a:t>
            </a:r>
          </a:p>
        </p:txBody>
      </p:sp>
      <p:sp>
        <p:nvSpPr>
          <p:cNvPr id="63" name="Arrow: Down 62">
            <a:extLst>
              <a:ext uri="{FF2B5EF4-FFF2-40B4-BE49-F238E27FC236}">
                <a16:creationId xmlns:a16="http://schemas.microsoft.com/office/drawing/2014/main" id="{F9E6E122-0DA2-EC44-6BBA-C7026DE7D3DB}"/>
              </a:ext>
            </a:extLst>
          </p:cNvPr>
          <p:cNvSpPr/>
          <p:nvPr/>
        </p:nvSpPr>
        <p:spPr>
          <a:xfrm rot="16200000">
            <a:off x="2806148" y="2319376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6" name="Arrow: Down 4095">
            <a:extLst>
              <a:ext uri="{FF2B5EF4-FFF2-40B4-BE49-F238E27FC236}">
                <a16:creationId xmlns:a16="http://schemas.microsoft.com/office/drawing/2014/main" id="{C3A0FEBB-DB42-EE7C-4109-8BC1FFB138C5}"/>
              </a:ext>
            </a:extLst>
          </p:cNvPr>
          <p:cNvSpPr/>
          <p:nvPr/>
        </p:nvSpPr>
        <p:spPr>
          <a:xfrm rot="16200000">
            <a:off x="6137763" y="2309902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4FC9D2D7-B67E-D631-FA0D-BB88AAE3999D}"/>
              </a:ext>
            </a:extLst>
          </p:cNvPr>
          <p:cNvSpPr txBox="1">
            <a:spLocks/>
          </p:cNvSpPr>
          <p:nvPr/>
        </p:nvSpPr>
        <p:spPr>
          <a:xfrm>
            <a:off x="2258216" y="3346300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4</a:t>
            </a: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94C25CEC-F1C2-B1BF-8998-56ACAD2614A1}"/>
              </a:ext>
            </a:extLst>
          </p:cNvPr>
          <p:cNvSpPr txBox="1">
            <a:spLocks/>
          </p:cNvSpPr>
          <p:nvPr/>
        </p:nvSpPr>
        <p:spPr>
          <a:xfrm>
            <a:off x="7998811" y="2311855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4</a:t>
            </a: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D06801EA-96E7-90E1-5594-6CC0CFBE5ECD}"/>
              </a:ext>
            </a:extLst>
          </p:cNvPr>
          <p:cNvSpPr txBox="1">
            <a:spLocks/>
          </p:cNvSpPr>
          <p:nvPr/>
        </p:nvSpPr>
        <p:spPr>
          <a:xfrm>
            <a:off x="5553420" y="4038422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90182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270D9-E522-F039-48EF-8A08DC4DA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lock Arc 43">
            <a:extLst>
              <a:ext uri="{FF2B5EF4-FFF2-40B4-BE49-F238E27FC236}">
                <a16:creationId xmlns:a16="http://schemas.microsoft.com/office/drawing/2014/main" id="{38593EBC-BDC6-2406-CB7A-6F67951FC374}"/>
              </a:ext>
            </a:extLst>
          </p:cNvPr>
          <p:cNvSpPr/>
          <p:nvPr/>
        </p:nvSpPr>
        <p:spPr>
          <a:xfrm rot="16200000">
            <a:off x="6167078" y="2201520"/>
            <a:ext cx="1289512" cy="330308"/>
          </a:xfrm>
          <a:prstGeom prst="blockArc">
            <a:avLst>
              <a:gd name="adj1" fmla="val 11144466"/>
              <a:gd name="adj2" fmla="val 144548"/>
              <a:gd name="adj3" fmla="val 212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Block Arc 36">
            <a:extLst>
              <a:ext uri="{FF2B5EF4-FFF2-40B4-BE49-F238E27FC236}">
                <a16:creationId xmlns:a16="http://schemas.microsoft.com/office/drawing/2014/main" id="{AFEFA3AD-C943-A578-8A47-E859858631B1}"/>
              </a:ext>
            </a:extLst>
          </p:cNvPr>
          <p:cNvSpPr/>
          <p:nvPr/>
        </p:nvSpPr>
        <p:spPr>
          <a:xfrm rot="5977851">
            <a:off x="6664063" y="3007857"/>
            <a:ext cx="1289512" cy="330308"/>
          </a:xfrm>
          <a:prstGeom prst="blockArc">
            <a:avLst>
              <a:gd name="adj1" fmla="val 11144466"/>
              <a:gd name="adj2" fmla="val 144548"/>
              <a:gd name="adj3" fmla="val 212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2" name="Picture 41" descr="A black and white image of a molecule&#10;&#10;AI-generated content may be incorrect.">
            <a:extLst>
              <a:ext uri="{FF2B5EF4-FFF2-40B4-BE49-F238E27FC236}">
                <a16:creationId xmlns:a16="http://schemas.microsoft.com/office/drawing/2014/main" id="{7857C42B-0B8E-740D-5C59-9FC4A014B7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720" y="1527335"/>
            <a:ext cx="1690432" cy="24859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11B479-463A-A69D-DF6A-7DA3C4CB8D88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12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CAD0CBA-88EC-E0F4-2A0D-B6FF28F11522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b="0" dirty="0">
                <a:ea typeface="游ゴシック Medium"/>
                <a:cs typeface="Times New Roman"/>
              </a:rPr>
              <a:t>   Add extra constraints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371C8055-FB94-C82E-344D-AB66AAD67E51}"/>
              </a:ext>
            </a:extLst>
          </p:cNvPr>
          <p:cNvSpPr/>
          <p:nvPr/>
        </p:nvSpPr>
        <p:spPr>
          <a:xfrm>
            <a:off x="107504" y="631125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40E40A7A-D58D-767E-BD75-7EEDAD8A42CC}"/>
              </a:ext>
            </a:extLst>
          </p:cNvPr>
          <p:cNvSpPr txBox="1">
            <a:spLocks/>
          </p:cNvSpPr>
          <p:nvPr/>
        </p:nvSpPr>
        <p:spPr>
          <a:xfrm>
            <a:off x="467544" y="4119549"/>
            <a:ext cx="2155313" cy="42955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Initial pose graph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pic>
        <p:nvPicPr>
          <p:cNvPr id="17" name="Picture 2" descr="Network Graph Nodes Connections Chart Data Points Trend Analysis ...">
            <a:extLst>
              <a:ext uri="{FF2B5EF4-FFF2-40B4-BE49-F238E27FC236}">
                <a16:creationId xmlns:a16="http://schemas.microsoft.com/office/drawing/2014/main" id="{BEAE38BD-EC5E-F725-551F-3601ADBFC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80279">
            <a:off x="27958" y="2114653"/>
            <a:ext cx="2271720" cy="109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F4AE2527-1D60-7F3D-5994-AC4D1577A711}"/>
              </a:ext>
            </a:extLst>
          </p:cNvPr>
          <p:cNvSpPr txBox="1">
            <a:spLocks/>
          </p:cNvSpPr>
          <p:nvPr/>
        </p:nvSpPr>
        <p:spPr>
          <a:xfrm>
            <a:off x="1470731" y="3548867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B4DDAC80-F3BF-B287-458E-F36F8F78B377}"/>
              </a:ext>
            </a:extLst>
          </p:cNvPr>
          <p:cNvSpPr txBox="1">
            <a:spLocks/>
          </p:cNvSpPr>
          <p:nvPr/>
        </p:nvSpPr>
        <p:spPr>
          <a:xfrm>
            <a:off x="1775531" y="2302428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B8DD4B88-7A9F-C666-9F14-6A28AA130CB4}"/>
              </a:ext>
            </a:extLst>
          </p:cNvPr>
          <p:cNvSpPr txBox="1">
            <a:spLocks/>
          </p:cNvSpPr>
          <p:nvPr/>
        </p:nvSpPr>
        <p:spPr>
          <a:xfrm>
            <a:off x="534627" y="1453501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23" name="Text Placeholder 1">
            <a:extLst>
              <a:ext uri="{FF2B5EF4-FFF2-40B4-BE49-F238E27FC236}">
                <a16:creationId xmlns:a16="http://schemas.microsoft.com/office/drawing/2014/main" id="{C33FD391-B021-1302-A6E8-4348AB86E1CA}"/>
              </a:ext>
            </a:extLst>
          </p:cNvPr>
          <p:cNvSpPr txBox="1">
            <a:spLocks/>
          </p:cNvSpPr>
          <p:nvPr/>
        </p:nvSpPr>
        <p:spPr>
          <a:xfrm>
            <a:off x="318602" y="2806484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6104FE59-7990-095A-059F-2D9009DE2FA1}"/>
              </a:ext>
            </a:extLst>
          </p:cNvPr>
          <p:cNvSpPr txBox="1">
            <a:spLocks/>
          </p:cNvSpPr>
          <p:nvPr/>
        </p:nvSpPr>
        <p:spPr>
          <a:xfrm>
            <a:off x="1264848" y="1776069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2→3</a:t>
            </a:r>
          </a:p>
        </p:txBody>
      </p:sp>
      <p:sp>
        <p:nvSpPr>
          <p:cNvPr id="26" name="Text Placeholder 1">
            <a:extLst>
              <a:ext uri="{FF2B5EF4-FFF2-40B4-BE49-F238E27FC236}">
                <a16:creationId xmlns:a16="http://schemas.microsoft.com/office/drawing/2014/main" id="{415AE825-6F98-D034-9179-33309AB2064D}"/>
              </a:ext>
            </a:extLst>
          </p:cNvPr>
          <p:cNvSpPr txBox="1">
            <a:spLocks/>
          </p:cNvSpPr>
          <p:nvPr/>
        </p:nvSpPr>
        <p:spPr>
          <a:xfrm>
            <a:off x="678642" y="237385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1→2</a:t>
            </a:r>
          </a:p>
        </p:txBody>
      </p:sp>
      <p:sp>
        <p:nvSpPr>
          <p:cNvPr id="27" name="Text Placeholder 1">
            <a:extLst>
              <a:ext uri="{FF2B5EF4-FFF2-40B4-BE49-F238E27FC236}">
                <a16:creationId xmlns:a16="http://schemas.microsoft.com/office/drawing/2014/main" id="{2B6A4C04-BAE4-1A95-244E-FB44EDB6EBDD}"/>
              </a:ext>
            </a:extLst>
          </p:cNvPr>
          <p:cNvSpPr txBox="1">
            <a:spLocks/>
          </p:cNvSpPr>
          <p:nvPr/>
        </p:nvSpPr>
        <p:spPr>
          <a:xfrm>
            <a:off x="1077360" y="304273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0→1</a:t>
            </a:r>
          </a:p>
        </p:txBody>
      </p:sp>
      <p:sp>
        <p:nvSpPr>
          <p:cNvPr id="28" name="Text Placeholder 1">
            <a:extLst>
              <a:ext uri="{FF2B5EF4-FFF2-40B4-BE49-F238E27FC236}">
                <a16:creationId xmlns:a16="http://schemas.microsoft.com/office/drawing/2014/main" id="{0F6040BB-4166-72D4-EC33-7A97DEB365C0}"/>
              </a:ext>
            </a:extLst>
          </p:cNvPr>
          <p:cNvSpPr txBox="1">
            <a:spLocks/>
          </p:cNvSpPr>
          <p:nvPr/>
        </p:nvSpPr>
        <p:spPr>
          <a:xfrm>
            <a:off x="6049015" y="4121398"/>
            <a:ext cx="2562042" cy="42955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Extended pose graph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30" name="Text Placeholder 1">
            <a:extLst>
              <a:ext uri="{FF2B5EF4-FFF2-40B4-BE49-F238E27FC236}">
                <a16:creationId xmlns:a16="http://schemas.microsoft.com/office/drawing/2014/main" id="{5B47FE8C-A4D4-AB3E-F945-A516044B87F5}"/>
              </a:ext>
            </a:extLst>
          </p:cNvPr>
          <p:cNvSpPr txBox="1">
            <a:spLocks/>
          </p:cNvSpPr>
          <p:nvPr/>
        </p:nvSpPr>
        <p:spPr>
          <a:xfrm>
            <a:off x="7330036" y="3649708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31" name="Text Placeholder 1">
            <a:extLst>
              <a:ext uri="{FF2B5EF4-FFF2-40B4-BE49-F238E27FC236}">
                <a16:creationId xmlns:a16="http://schemas.microsoft.com/office/drawing/2014/main" id="{DB866E1E-0621-E82A-1580-390B35833630}"/>
              </a:ext>
            </a:extLst>
          </p:cNvPr>
          <p:cNvSpPr txBox="1">
            <a:spLocks/>
          </p:cNvSpPr>
          <p:nvPr/>
        </p:nvSpPr>
        <p:spPr>
          <a:xfrm>
            <a:off x="7634836" y="2403269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32" name="Text Placeholder 1">
            <a:extLst>
              <a:ext uri="{FF2B5EF4-FFF2-40B4-BE49-F238E27FC236}">
                <a16:creationId xmlns:a16="http://schemas.microsoft.com/office/drawing/2014/main" id="{08EEDBA7-5D98-BDA9-DB5C-4745002042B8}"/>
              </a:ext>
            </a:extLst>
          </p:cNvPr>
          <p:cNvSpPr txBox="1">
            <a:spLocks/>
          </p:cNvSpPr>
          <p:nvPr/>
        </p:nvSpPr>
        <p:spPr>
          <a:xfrm>
            <a:off x="6393932" y="1554342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33" name="Text Placeholder 1">
            <a:extLst>
              <a:ext uri="{FF2B5EF4-FFF2-40B4-BE49-F238E27FC236}">
                <a16:creationId xmlns:a16="http://schemas.microsoft.com/office/drawing/2014/main" id="{61B3DCF7-3DE6-D43B-9205-C6FF32D3D435}"/>
              </a:ext>
            </a:extLst>
          </p:cNvPr>
          <p:cNvSpPr txBox="1">
            <a:spLocks/>
          </p:cNvSpPr>
          <p:nvPr/>
        </p:nvSpPr>
        <p:spPr>
          <a:xfrm>
            <a:off x="6177907" y="2907325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34" name="Text Placeholder 1">
            <a:extLst>
              <a:ext uri="{FF2B5EF4-FFF2-40B4-BE49-F238E27FC236}">
                <a16:creationId xmlns:a16="http://schemas.microsoft.com/office/drawing/2014/main" id="{1E3C8204-2F67-F5D3-A12E-8355843BA62C}"/>
              </a:ext>
            </a:extLst>
          </p:cNvPr>
          <p:cNvSpPr txBox="1">
            <a:spLocks/>
          </p:cNvSpPr>
          <p:nvPr/>
        </p:nvSpPr>
        <p:spPr>
          <a:xfrm>
            <a:off x="7124153" y="1876910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2→3</a:t>
            </a:r>
          </a:p>
        </p:txBody>
      </p:sp>
      <p:sp>
        <p:nvSpPr>
          <p:cNvPr id="35" name="Text Placeholder 1">
            <a:extLst>
              <a:ext uri="{FF2B5EF4-FFF2-40B4-BE49-F238E27FC236}">
                <a16:creationId xmlns:a16="http://schemas.microsoft.com/office/drawing/2014/main" id="{2BD2BF7D-19FF-534B-4BA9-6E4DD0CE3D40}"/>
              </a:ext>
            </a:extLst>
          </p:cNvPr>
          <p:cNvSpPr txBox="1">
            <a:spLocks/>
          </p:cNvSpPr>
          <p:nvPr/>
        </p:nvSpPr>
        <p:spPr>
          <a:xfrm>
            <a:off x="6680496" y="2467559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1→2</a:t>
            </a:r>
          </a:p>
        </p:txBody>
      </p:sp>
      <p:sp>
        <p:nvSpPr>
          <p:cNvPr id="36" name="Text Placeholder 1">
            <a:extLst>
              <a:ext uri="{FF2B5EF4-FFF2-40B4-BE49-F238E27FC236}">
                <a16:creationId xmlns:a16="http://schemas.microsoft.com/office/drawing/2014/main" id="{AB6D8B44-ABEA-2B0B-34B9-40CA2FD20FC8}"/>
              </a:ext>
            </a:extLst>
          </p:cNvPr>
          <p:cNvSpPr txBox="1">
            <a:spLocks/>
          </p:cNvSpPr>
          <p:nvPr/>
        </p:nvSpPr>
        <p:spPr>
          <a:xfrm>
            <a:off x="6936665" y="3143577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0→1</a:t>
            </a:r>
          </a:p>
        </p:txBody>
      </p:sp>
      <p:sp>
        <p:nvSpPr>
          <p:cNvPr id="45" name="Text Placeholder 1">
            <a:extLst>
              <a:ext uri="{FF2B5EF4-FFF2-40B4-BE49-F238E27FC236}">
                <a16:creationId xmlns:a16="http://schemas.microsoft.com/office/drawing/2014/main" id="{D487981E-1AE1-3C53-4B05-4DF875D4C985}"/>
              </a:ext>
            </a:extLst>
          </p:cNvPr>
          <p:cNvSpPr txBox="1">
            <a:spLocks/>
          </p:cNvSpPr>
          <p:nvPr/>
        </p:nvSpPr>
        <p:spPr>
          <a:xfrm>
            <a:off x="7477136" y="2904185"/>
            <a:ext cx="825658" cy="37359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0→2</a:t>
            </a:r>
          </a:p>
        </p:txBody>
      </p:sp>
      <p:sp>
        <p:nvSpPr>
          <p:cNvPr id="46" name="Text Placeholder 1">
            <a:extLst>
              <a:ext uri="{FF2B5EF4-FFF2-40B4-BE49-F238E27FC236}">
                <a16:creationId xmlns:a16="http://schemas.microsoft.com/office/drawing/2014/main" id="{749C0A05-DD40-19DD-1EAA-4EB07FC8BCE3}"/>
              </a:ext>
            </a:extLst>
          </p:cNvPr>
          <p:cNvSpPr txBox="1">
            <a:spLocks/>
          </p:cNvSpPr>
          <p:nvPr/>
        </p:nvSpPr>
        <p:spPr>
          <a:xfrm>
            <a:off x="5983157" y="2151896"/>
            <a:ext cx="746625" cy="42955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solidFill>
                  <a:schemeClr val="accent1"/>
                </a:solidFill>
                <a:ea typeface="游ゴシック Medium"/>
                <a:cs typeface="Times New Roman"/>
              </a:rPr>
              <a:t>1→3</a:t>
            </a:r>
          </a:p>
        </p:txBody>
      </p:sp>
      <p:sp>
        <p:nvSpPr>
          <p:cNvPr id="47" name="Text Placeholder 1">
            <a:extLst>
              <a:ext uri="{FF2B5EF4-FFF2-40B4-BE49-F238E27FC236}">
                <a16:creationId xmlns:a16="http://schemas.microsoft.com/office/drawing/2014/main" id="{9AC0B8C0-3FF2-A090-513C-DBEE53C6FF76}"/>
              </a:ext>
            </a:extLst>
          </p:cNvPr>
          <p:cNvSpPr txBox="1">
            <a:spLocks/>
          </p:cNvSpPr>
          <p:nvPr/>
        </p:nvSpPr>
        <p:spPr>
          <a:xfrm>
            <a:off x="2826680" y="2446938"/>
            <a:ext cx="2990513" cy="109424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Image Registration (IR)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Loop Closure (LC)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15B96603-FAA9-F7B2-6239-EA470BC3E4C2}"/>
              </a:ext>
            </a:extLst>
          </p:cNvPr>
          <p:cNvSpPr/>
          <p:nvPr/>
        </p:nvSpPr>
        <p:spPr>
          <a:xfrm rot="16200000">
            <a:off x="3875728" y="1752262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38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8D439-3B34-5969-9336-DB79C3C8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5A81A1-29B3-4E3E-7D35-8927630AC9CB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13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2C43A8-E4E8-EC13-5689-F1679B28CCCF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b="0" dirty="0">
                <a:ea typeface="游ゴシック Medium"/>
                <a:cs typeface="Times New Roman"/>
              </a:rPr>
              <a:t>   Add weights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830C6158-A438-5953-F0D1-8B34932AE63D}"/>
              </a:ext>
            </a:extLst>
          </p:cNvPr>
          <p:cNvSpPr/>
          <p:nvPr/>
        </p:nvSpPr>
        <p:spPr>
          <a:xfrm>
            <a:off x="107504" y="631125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B33792-2FE8-A7EA-8B59-20DD33EA8585}"/>
              </a:ext>
            </a:extLst>
          </p:cNvPr>
          <p:cNvSpPr txBox="1">
            <a:spLocks/>
          </p:cNvSpPr>
          <p:nvPr/>
        </p:nvSpPr>
        <p:spPr>
          <a:xfrm>
            <a:off x="467544" y="960283"/>
            <a:ext cx="8015802" cy="355209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Why do we add weights?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Weights allow edges to be rated in their confidence and influence on the cost function and thus the optimization 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  <p:sp>
        <p:nvSpPr>
          <p:cNvPr id="5" name="Block Arc 4">
            <a:extLst>
              <a:ext uri="{FF2B5EF4-FFF2-40B4-BE49-F238E27FC236}">
                <a16:creationId xmlns:a16="http://schemas.microsoft.com/office/drawing/2014/main" id="{B6765B44-072A-BF56-7C88-6CD221841A8C}"/>
              </a:ext>
            </a:extLst>
          </p:cNvPr>
          <p:cNvSpPr/>
          <p:nvPr/>
        </p:nvSpPr>
        <p:spPr>
          <a:xfrm rot="16200000">
            <a:off x="624642" y="2927399"/>
            <a:ext cx="1289512" cy="330308"/>
          </a:xfrm>
          <a:prstGeom prst="blockArc">
            <a:avLst>
              <a:gd name="adj1" fmla="val 11144466"/>
              <a:gd name="adj2" fmla="val 144548"/>
              <a:gd name="adj3" fmla="val 212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CF0F55F5-6C97-7E5C-595C-0E462852ADCE}"/>
              </a:ext>
            </a:extLst>
          </p:cNvPr>
          <p:cNvSpPr/>
          <p:nvPr/>
        </p:nvSpPr>
        <p:spPr>
          <a:xfrm rot="5977851">
            <a:off x="1121627" y="3733736"/>
            <a:ext cx="1289512" cy="330308"/>
          </a:xfrm>
          <a:prstGeom prst="blockArc">
            <a:avLst>
              <a:gd name="adj1" fmla="val 11144466"/>
              <a:gd name="adj2" fmla="val 144548"/>
              <a:gd name="adj3" fmla="val 2127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 descr="A black and white image of a molecule&#10;&#10;AI-generated content may be incorrect.">
            <a:extLst>
              <a:ext uri="{FF2B5EF4-FFF2-40B4-BE49-F238E27FC236}">
                <a16:creationId xmlns:a16="http://schemas.microsoft.com/office/drawing/2014/main" id="{741000B7-BACE-2A24-2D80-E34279A0C2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84" y="2253214"/>
            <a:ext cx="1690432" cy="2485929"/>
          </a:xfrm>
          <a:prstGeom prst="rect">
            <a:avLst/>
          </a:prstGeom>
        </p:spPr>
      </p:pic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FF9602AE-F440-E48B-0105-7E2D8A5C74FD}"/>
              </a:ext>
            </a:extLst>
          </p:cNvPr>
          <p:cNvSpPr txBox="1">
            <a:spLocks/>
          </p:cNvSpPr>
          <p:nvPr/>
        </p:nvSpPr>
        <p:spPr>
          <a:xfrm>
            <a:off x="1787600" y="4375587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0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9E3E2EA-0365-BEF4-8A8A-F69FD8B64E19}"/>
              </a:ext>
            </a:extLst>
          </p:cNvPr>
          <p:cNvSpPr txBox="1">
            <a:spLocks/>
          </p:cNvSpPr>
          <p:nvPr/>
        </p:nvSpPr>
        <p:spPr>
          <a:xfrm>
            <a:off x="2092400" y="3129148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2</a:t>
            </a:r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41253A94-A8F5-22D3-A83F-C8CE47CF49AD}"/>
              </a:ext>
            </a:extLst>
          </p:cNvPr>
          <p:cNvSpPr txBox="1">
            <a:spLocks/>
          </p:cNvSpPr>
          <p:nvPr/>
        </p:nvSpPr>
        <p:spPr>
          <a:xfrm>
            <a:off x="851496" y="2280221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3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03B23F76-0CB1-0EE7-64BD-CE5EB7FE95DE}"/>
              </a:ext>
            </a:extLst>
          </p:cNvPr>
          <p:cNvSpPr txBox="1">
            <a:spLocks/>
          </p:cNvSpPr>
          <p:nvPr/>
        </p:nvSpPr>
        <p:spPr>
          <a:xfrm>
            <a:off x="635471" y="3633204"/>
            <a:ext cx="360040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ea typeface="游ゴシック Medium"/>
                <a:cs typeface="Times New Roman"/>
              </a:rPr>
              <a:t>T</a:t>
            </a:r>
            <a:r>
              <a:rPr lang="en-US" sz="1200" b="0" baseline="-25000" dirty="0">
                <a:ea typeface="游ゴシック Medium"/>
                <a:cs typeface="Times New Roman"/>
              </a:rPr>
              <a:t>1</a:t>
            </a:r>
          </a:p>
        </p:txBody>
      </p:sp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10F28F7-31CA-5020-DD8B-092C8A7885AE}"/>
              </a:ext>
            </a:extLst>
          </p:cNvPr>
          <p:cNvSpPr txBox="1">
            <a:spLocks/>
          </p:cNvSpPr>
          <p:nvPr/>
        </p:nvSpPr>
        <p:spPr>
          <a:xfrm>
            <a:off x="1581717" y="2602789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w2</a:t>
            </a:r>
            <a:endParaRPr lang="en-US" sz="1200" b="0" baseline="-25000" dirty="0">
              <a:solidFill>
                <a:schemeClr val="accent1"/>
              </a:solidFill>
              <a:ea typeface="游ゴシック Medium"/>
              <a:cs typeface="Times New Roman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720A799B-FEFA-D6A9-CEB8-705FBAD417F2}"/>
              </a:ext>
            </a:extLst>
          </p:cNvPr>
          <p:cNvSpPr txBox="1">
            <a:spLocks/>
          </p:cNvSpPr>
          <p:nvPr/>
        </p:nvSpPr>
        <p:spPr>
          <a:xfrm>
            <a:off x="762364" y="2942091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w1</a:t>
            </a:r>
            <a:endParaRPr lang="en-US" sz="1200" b="0" baseline="-25000" dirty="0">
              <a:solidFill>
                <a:schemeClr val="accent1"/>
              </a:solidFill>
              <a:ea typeface="游ゴシック Medium"/>
              <a:cs typeface="Times New Roman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1676FD40-FA23-EC21-705F-8A2E41174C4E}"/>
              </a:ext>
            </a:extLst>
          </p:cNvPr>
          <p:cNvSpPr txBox="1">
            <a:spLocks/>
          </p:cNvSpPr>
          <p:nvPr/>
        </p:nvSpPr>
        <p:spPr>
          <a:xfrm>
            <a:off x="1394229" y="3869456"/>
            <a:ext cx="538303" cy="28861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w0</a:t>
            </a:r>
            <a:endParaRPr lang="en-US" sz="1200" b="0" baseline="-25000" dirty="0">
              <a:solidFill>
                <a:schemeClr val="accent1"/>
              </a:solidFill>
              <a:ea typeface="游ゴシック Medium"/>
              <a:cs typeface="Times New Roman"/>
            </a:endParaRP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DBB9566F-E79B-D2A1-4B66-8AC8DDC787A4}"/>
              </a:ext>
            </a:extLst>
          </p:cNvPr>
          <p:cNvSpPr txBox="1">
            <a:spLocks/>
          </p:cNvSpPr>
          <p:nvPr/>
        </p:nvSpPr>
        <p:spPr>
          <a:xfrm>
            <a:off x="1934700" y="3630064"/>
            <a:ext cx="825658" cy="37359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r>
              <a:rPr lang="en-US" sz="1200" b="0" dirty="0">
                <a:solidFill>
                  <a:schemeClr val="accent1"/>
                </a:solidFill>
                <a:ea typeface="游ゴシック Medium"/>
                <a:cs typeface="Times New Roman"/>
              </a:rPr>
              <a:t>w3</a:t>
            </a:r>
            <a:endParaRPr lang="en-US" sz="1200" b="0" baseline="-25000" dirty="0">
              <a:solidFill>
                <a:schemeClr val="accent1"/>
              </a:solidFill>
              <a:ea typeface="游ゴシック Medium"/>
              <a:cs typeface="Times New Roman"/>
            </a:endParaRP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62A24160-059A-A3C2-CC1E-9AF3BF5B4376}"/>
              </a:ext>
            </a:extLst>
          </p:cNvPr>
          <p:cNvSpPr/>
          <p:nvPr/>
        </p:nvSpPr>
        <p:spPr>
          <a:xfrm rot="16200000">
            <a:off x="2988105" y="2961614"/>
            <a:ext cx="576064" cy="62367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17A8951-E535-71E1-BD58-5E0FC0E45026}"/>
                  </a:ext>
                </a:extLst>
              </p:cNvPr>
              <p:cNvSpPr txBox="1"/>
              <p:nvPr/>
            </p:nvSpPr>
            <p:spPr>
              <a:xfrm>
                <a:off x="4062865" y="3065607"/>
                <a:ext cx="4137030" cy="404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000" dirty="0">
                    <a:latin typeface="游ゴシック Medium" panose="020B0500000000000000" pitchFamily="50" charset="-128"/>
                    <a:ea typeface="游ゴシック Medium"/>
                    <a:cs typeface="Times New Roman"/>
                  </a:rPr>
                  <a:t>e </a:t>
                </a: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  <a:ea typeface="游ゴシック Medium"/>
                        <a:cs typeface="Times New Roman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2000" i="1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</m:ctrlPr>
                      </m:naryPr>
                      <m:sub>
                        <m:r>
                          <a:rPr lang="pt-BR" sz="2000" i="1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𝑘</m:t>
                        </m:r>
                        <m:r>
                          <a:rPr lang="pt-BR" sz="2000" i="1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=0</m:t>
                        </m:r>
                      </m:sub>
                      <m:sup>
                        <m:r>
                          <a:rPr lang="pt-BR" sz="2000" i="1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log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游ゴシック Medium"/>
                            <a:cs typeface="Times New Roman"/>
                          </a:rPr>
                          <m:t>(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𝑤</m:t>
                            </m:r>
                            <m:r>
                              <a:rPr lang="en-US" sz="2000" i="1" baseline="-25000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𝑖𝑗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∙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𝑇</m:t>
                            </m:r>
                            <m:r>
                              <a:rPr lang="en-US" sz="2000" i="1" baseline="-25000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𝑖𝑗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∙(</m:t>
                        </m:r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𝑇</m:t>
                            </m:r>
                            <m:r>
                              <a:rPr lang="en-US" sz="2000" i="1" baseline="-25000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𝑖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游ゴシック Medium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∙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𝑇𝑗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))</m:t>
                        </m:r>
                      </m:e>
                    </m:nary>
                  </m:oMath>
                </a14:m>
                <a:endParaRPr lang="en-US" sz="2000" dirty="0">
                  <a:latin typeface="游ゴシック Medium" panose="020B0500000000000000" pitchFamily="50" charset="-128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17A8951-E535-71E1-BD58-5E0FC0E45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865" y="3065607"/>
                <a:ext cx="4137030" cy="404663"/>
              </a:xfrm>
              <a:prstGeom prst="rect">
                <a:avLst/>
              </a:prstGeom>
              <a:blipFill>
                <a:blip r:embed="rId3"/>
                <a:stretch>
                  <a:fillRect l="-1473" t="-122727" b="-18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2D37F9E7-04F8-15C4-C309-FEDE2CA0BE8B}"/>
              </a:ext>
            </a:extLst>
          </p:cNvPr>
          <p:cNvSpPr txBox="1"/>
          <p:nvPr/>
        </p:nvSpPr>
        <p:spPr>
          <a:xfrm>
            <a:off x="2836894" y="3962150"/>
            <a:ext cx="6072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游ゴシック Medium" panose="020B0500000000000000" pitchFamily="50" charset="-128"/>
              </a:rPr>
              <a:t>➔</a:t>
            </a:r>
            <a:r>
              <a:rPr lang="en-US" dirty="0">
                <a:solidFill>
                  <a:schemeClr val="accent1"/>
                </a:solidFill>
                <a:latin typeface="游ゴシック Medium" panose="020B0500000000000000" pitchFamily="50" charset="-128"/>
              </a:rPr>
              <a:t> </a:t>
            </a:r>
            <a:r>
              <a:rPr lang="en-US" dirty="0">
                <a:latin typeface="游ゴシック Medium" panose="020B0500000000000000" pitchFamily="50" charset="-128"/>
              </a:rPr>
              <a:t>High weights: Edge has high impact on cost function</a:t>
            </a:r>
          </a:p>
          <a:p>
            <a:r>
              <a:rPr lang="en-US" dirty="0">
                <a:latin typeface="游ゴシック Medium" panose="020B0500000000000000" pitchFamily="50" charset="-128"/>
              </a:rPr>
              <a:t>(vice versa for low weights)</a:t>
            </a:r>
          </a:p>
        </p:txBody>
      </p:sp>
    </p:spTree>
    <p:extLst>
      <p:ext uri="{BB962C8B-B14F-4D97-AF65-F5344CB8AC3E}">
        <p14:creationId xmlns:p14="http://schemas.microsoft.com/office/powerpoint/2010/main" val="1013722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7F03C-3C3D-A556-5288-896C1130B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7561BC-CE94-1C3D-8C20-0D97825EF29A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14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60DE82-4145-44BA-1FE4-BADCEDA22F9D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b="0" dirty="0">
                <a:ea typeface="游ゴシック Medium"/>
                <a:cs typeface="Times New Roman"/>
              </a:rPr>
              <a:t>   Add weights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D8C285EB-451F-6502-F61C-6D3A37B102F3}"/>
              </a:ext>
            </a:extLst>
          </p:cNvPr>
          <p:cNvSpPr/>
          <p:nvPr/>
        </p:nvSpPr>
        <p:spPr>
          <a:xfrm>
            <a:off x="107504" y="631125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FBF02C-E2FC-2E01-B638-1670497D3670}"/>
              </a:ext>
            </a:extLst>
          </p:cNvPr>
          <p:cNvSpPr txBox="1">
            <a:spLocks/>
          </p:cNvSpPr>
          <p:nvPr/>
        </p:nvSpPr>
        <p:spPr>
          <a:xfrm>
            <a:off x="467544" y="1001329"/>
            <a:ext cx="8015802" cy="355209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Initial edges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Lower weights, as the initial pose graph is to be optimized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>
              <a:ea typeface="游ゴシック Medium"/>
              <a:cs typeface="Times New Roman"/>
            </a:endParaRPr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>
                <a:ea typeface="游ゴシック Medium"/>
                <a:cs typeface="Times New Roman"/>
              </a:rPr>
              <a:t>Added edges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ea typeface="游ゴシック Medium"/>
                <a:cs typeface="Times New Roman"/>
              </a:rPr>
              <a:t>Higher weights, as these are the means of optimization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IR: Weights based on how well a newly found transform transforms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LC: Weights based on confidence of found LC</a:t>
            </a:r>
          </a:p>
          <a:p>
            <a:pPr marL="0" indent="0">
              <a:buClr>
                <a:srgbClr val="9E3611"/>
              </a:buClr>
              <a:buFont typeface="Arial" panose="020B0604020202020204" pitchFamily="34" charset="0"/>
              <a:buNone/>
            </a:pPr>
            <a:endParaRPr lang="en-US" sz="2000" b="0" dirty="0">
              <a:ea typeface="游ゴシック Medium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26910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0C084-31A1-8A80-15E4-41D45F5CB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C978D-0592-561D-DAE9-2970B1FB95E4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15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3477C8-8C9A-6D8D-B19A-C37B2570765B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pPr marL="0">
              <a:buClr>
                <a:srgbClr val="9E3611"/>
              </a:buClr>
            </a:pPr>
            <a:r>
              <a:rPr lang="en-US" sz="2400" b="0" dirty="0">
                <a:ea typeface="游ゴシック Medium"/>
                <a:cs typeface="Times New Roman"/>
              </a:rPr>
              <a:t>   Apply PGO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51C9BBCB-84A9-CD40-B13D-F98D70C1E126}"/>
              </a:ext>
            </a:extLst>
          </p:cNvPr>
          <p:cNvSpPr/>
          <p:nvPr/>
        </p:nvSpPr>
        <p:spPr>
          <a:xfrm>
            <a:off x="107504" y="631125"/>
            <a:ext cx="360040" cy="36004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BF8B2E-54FB-B139-6F39-69DF0339763B}"/>
              </a:ext>
            </a:extLst>
          </p:cNvPr>
          <p:cNvSpPr txBox="1">
            <a:spLocks/>
          </p:cNvSpPr>
          <p:nvPr/>
        </p:nvSpPr>
        <p:spPr>
          <a:xfrm>
            <a:off x="467544" y="991165"/>
            <a:ext cx="8015802" cy="355209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137160" indent="-13716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5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35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b="1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150"/>
              </a:spcAft>
              <a:buClr>
                <a:schemeClr val="accent1">
                  <a:lumMod val="75000"/>
                </a:schemeClr>
              </a:buClr>
              <a:buSzPct val="100000"/>
              <a:buFont typeface="Arial" panose="020B0604020202020204" pitchFamily="34" charset="0"/>
              <a:buChar char="•"/>
              <a:defRPr kumimoji="1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Use added edges to optimize initial pose graph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Use adequate noise functions to handle outliers</a:t>
            </a:r>
          </a:p>
          <a:p>
            <a:pPr>
              <a:buClr>
                <a:srgbClr val="9E3611"/>
              </a:buClr>
            </a:pPr>
            <a:r>
              <a:rPr lang="en-US" sz="2000" b="0" dirty="0">
                <a:ea typeface="游ゴシック Medium"/>
                <a:cs typeface="Times New Roman"/>
              </a:rPr>
              <a:t>Compare optimized node values (absolute poses) with GT </a:t>
            </a:r>
          </a:p>
        </p:txBody>
      </p:sp>
    </p:spTree>
    <p:extLst>
      <p:ext uri="{BB962C8B-B14F-4D97-AF65-F5344CB8AC3E}">
        <p14:creationId xmlns:p14="http://schemas.microsoft.com/office/powerpoint/2010/main" val="3083977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FEA15-0714-2794-C0B9-A2E338DA2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1BD7D8-1EAF-DF54-461B-16D49970CE1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Commonly used error metrics in 3d UR reconstruction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Final Drift (FD): Offset of final frame compared to GT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Final Drift Rate (FDR): FD divided by trajectory length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Average error for relative transforms between frames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Average error for absolute poses</a:t>
            </a:r>
          </a:p>
          <a:p>
            <a:pPr>
              <a:buClr>
                <a:srgbClr val="9E3611"/>
              </a:buClr>
            </a:pPr>
            <a:r>
              <a:rPr lang="en-US" sz="2000" b="0" dirty="0"/>
              <a:t>Maximum error in absolute poses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solidFill>
                  <a:schemeClr val="accent1"/>
                </a:solidFill>
              </a:rPr>
              <a:t>➔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b="0" dirty="0"/>
              <a:t>Use these to compare optimized poses with GT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solidFill>
                  <a:schemeClr val="accent1"/>
                </a:solidFill>
              </a:rPr>
              <a:t>➔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b="0" dirty="0"/>
              <a:t>Learn for fitting parameters or find heuristic for PGO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2ABB03-C31A-3453-9039-B4509ADBB1E8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16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41054F-7C5F-A29E-4E49-BFD4FE13CE86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Error metrics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436199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A0D1D-6F82-EF6A-BC9F-5F6E597E9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3AFF78-E997-8BDD-79AD-E2697D8B0B0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506131" cy="398686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Models</a:t>
            </a:r>
          </a:p>
          <a:p>
            <a:pPr>
              <a:buClr>
                <a:srgbClr val="9E3611"/>
              </a:buClr>
            </a:pPr>
            <a:r>
              <a:rPr lang="en-US" sz="2000" b="0" i="1" dirty="0"/>
              <a:t>DLCNet:</a:t>
            </a:r>
            <a:r>
              <a:rPr lang="en-US" sz="2000" b="0" dirty="0"/>
              <a:t>			FD of 17mm</a:t>
            </a:r>
          </a:p>
          <a:p>
            <a:pPr>
              <a:buClr>
                <a:srgbClr val="9E3611"/>
              </a:buClr>
            </a:pPr>
            <a:r>
              <a:rPr lang="en-US" sz="2000" b="0" i="1" dirty="0"/>
              <a:t>&lt;No name&gt;:	</a:t>
            </a:r>
            <a:r>
              <a:rPr lang="en-US" sz="2000" b="0" dirty="0"/>
              <a:t>	Approximate FDR of 15%</a:t>
            </a:r>
          </a:p>
          <a:p>
            <a:pPr>
              <a:buClr>
                <a:srgbClr val="9E3611"/>
              </a:buClr>
            </a:pPr>
            <a:r>
              <a:rPr lang="en-US" sz="2000" b="0" i="1" dirty="0" err="1"/>
              <a:t>DualTrack</a:t>
            </a:r>
            <a:r>
              <a:rPr lang="en-US" sz="2000" b="0" i="1" dirty="0"/>
              <a:t> (SODA):	</a:t>
            </a:r>
            <a:r>
              <a:rPr lang="en-US" sz="2000" b="0" dirty="0"/>
              <a:t> 	FD of 8mm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solidFill>
                  <a:schemeClr val="accent1"/>
                </a:solidFill>
              </a:rPr>
              <a:t>➔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b="0" dirty="0"/>
              <a:t>Room for improvement</a:t>
            </a:r>
          </a:p>
          <a:p>
            <a:pPr marL="0" indent="0">
              <a:buClr>
                <a:srgbClr val="9E3611"/>
              </a:buClr>
              <a:buNone/>
            </a:pPr>
            <a:endParaRPr lang="en-US" sz="2000" b="0" dirty="0"/>
          </a:p>
          <a:p>
            <a:pPr marL="0" indent="0">
              <a:buClr>
                <a:srgbClr val="9E3611"/>
              </a:buClr>
              <a:buNone/>
            </a:pPr>
            <a:r>
              <a:rPr lang="en-US" sz="2000" dirty="0"/>
              <a:t>Data sets</a:t>
            </a:r>
          </a:p>
          <a:p>
            <a:pPr>
              <a:buClr>
                <a:srgbClr val="9E3611"/>
              </a:buClr>
            </a:pPr>
            <a:r>
              <a:rPr lang="en-US" sz="2000" b="0" i="1" dirty="0" err="1"/>
              <a:t>FreehandUS</a:t>
            </a:r>
            <a:r>
              <a:rPr lang="en-US" sz="2000" b="0" i="1" dirty="0"/>
              <a:t> data set:</a:t>
            </a:r>
            <a:r>
              <a:rPr lang="en-US" sz="2000" b="0" dirty="0"/>
              <a:t>	Training data for No-name-model		</a:t>
            </a:r>
          </a:p>
          <a:p>
            <a:pPr>
              <a:buClr>
                <a:srgbClr val="9E3611"/>
              </a:buClr>
            </a:pPr>
            <a:r>
              <a:rPr lang="en-US" sz="2000" b="0" i="1" dirty="0"/>
              <a:t>TUS-REC24 data set:</a:t>
            </a:r>
            <a:r>
              <a:rPr lang="en-US" sz="2000" b="0" dirty="0"/>
              <a:t>	TUS-REC challenge 2024		</a:t>
            </a:r>
          </a:p>
          <a:p>
            <a:pPr>
              <a:buClr>
                <a:srgbClr val="9E3611"/>
              </a:buClr>
            </a:pPr>
            <a:r>
              <a:rPr lang="en-US" sz="2000" b="0" i="1" dirty="0"/>
              <a:t>TUS-REC25 data set:</a:t>
            </a:r>
            <a:r>
              <a:rPr lang="en-US" sz="2000" b="0" dirty="0"/>
              <a:t>	TUS-REC challenge 2025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n-US" sz="2000" b="0" dirty="0">
                <a:solidFill>
                  <a:schemeClr val="accent1"/>
                </a:solidFill>
              </a:rPr>
              <a:t>➔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b="0" dirty="0"/>
              <a:t>Realistic, publicly available data sets with 3d UR frames and GT poses</a:t>
            </a:r>
          </a:p>
          <a:p>
            <a:pPr>
              <a:buClr>
                <a:srgbClr val="9E3611"/>
              </a:buClr>
            </a:pPr>
            <a:endParaRPr lang="en-US" sz="2000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9DB5C-0DB2-47EA-1DB9-AD935F2876FE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17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80A530-19ED-3FE8-740A-53E0F7855DF1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Setup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3608549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84963-4BCB-387E-B957-7CC233EB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9233D1-A900-C3DD-B32C-6C0A805F5FC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0325" y="707816"/>
            <a:ext cx="8218099" cy="398686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200" b="0" dirty="0"/>
              <a:t>[1] Chrissy A. Adriaans, Mark </a:t>
            </a:r>
            <a:r>
              <a:rPr lang="en-US" sz="1200" b="0" dirty="0" err="1"/>
              <a:t>Wijkhuizen</a:t>
            </a:r>
            <a:r>
              <a:rPr lang="en-US" sz="1200" b="0" dirty="0"/>
              <a:t>, Lennard M. van </a:t>
            </a:r>
            <a:r>
              <a:rPr lang="en-US" sz="1200" b="0" dirty="0" err="1"/>
              <a:t>Karnenbeek</a:t>
            </a:r>
            <a:r>
              <a:rPr lang="en-US" sz="1200" b="0" dirty="0"/>
              <a:t>, Freija Geldof, and Behdad </a:t>
            </a:r>
            <a:r>
              <a:rPr lang="en-US" sz="1200" b="0" dirty="0" err="1"/>
              <a:t>Dashtbozorg</a:t>
            </a:r>
            <a:r>
              <a:rPr lang="en-US" sz="1200" b="0" dirty="0"/>
              <a:t>. 	</a:t>
            </a:r>
            <a:r>
              <a:rPr lang="en-US" sz="1200" b="0" dirty="0" err="1"/>
              <a:t>Trackerless</a:t>
            </a:r>
            <a:r>
              <a:rPr lang="en-US" sz="1200" b="0" dirty="0"/>
              <a:t> 3d freehand ultrasound reconstruction: A review. Applied Sciences, 14(17):7991, 2024.</a:t>
            </a:r>
          </a:p>
          <a:p>
            <a:pPr marL="0" indent="0">
              <a:buNone/>
            </a:pPr>
            <a:r>
              <a:rPr lang="en-US" sz="1200" b="0" dirty="0"/>
              <a:t>[2] Russell Buchanan et al. 3d freehand ultrasound using visual inertial and deep inertial odometry for measuring 	patellar tracking. 2024.</a:t>
            </a:r>
          </a:p>
          <a:p>
            <a:pPr marL="0" indent="0">
              <a:buNone/>
            </a:pPr>
            <a:r>
              <a:rPr lang="en-US" sz="1200" b="0" dirty="0"/>
              <a:t>[3] Andrew H. Gee et al. </a:t>
            </a:r>
            <a:r>
              <a:rPr lang="en-US" sz="1200" b="0" dirty="0" err="1"/>
              <a:t>Sensorless</a:t>
            </a:r>
            <a:r>
              <a:rPr lang="en-US" sz="1200" b="0" dirty="0"/>
              <a:t> freehand 3d ultrasound in real tissue: speckle decorrelation without fully 	developed speckle. Medical image analysis, 10(2):137–149, 2006.</a:t>
            </a:r>
          </a:p>
          <a:p>
            <a:pPr marL="0" indent="0">
              <a:buNone/>
            </a:pPr>
            <a:r>
              <a:rPr lang="en-US" sz="1200" b="0" dirty="0"/>
              <a:t>[4] </a:t>
            </a:r>
            <a:r>
              <a:rPr lang="en-US" sz="1200" b="0" dirty="0" err="1"/>
              <a:t>Hengtao</a:t>
            </a:r>
            <a:r>
              <a:rPr lang="en-US" sz="1200" b="0" dirty="0"/>
              <a:t> Guo, Sheng Xu, Bradford Wood, and </a:t>
            </a:r>
            <a:r>
              <a:rPr lang="en-US" sz="1200" b="0" dirty="0" err="1"/>
              <a:t>Pingkun</a:t>
            </a:r>
            <a:r>
              <a:rPr lang="en-US" sz="1200" b="0" dirty="0"/>
              <a:t> Yan. </a:t>
            </a:r>
            <a:r>
              <a:rPr lang="en-US" sz="1200" b="0" dirty="0" err="1"/>
              <a:t>Sensorless</a:t>
            </a:r>
            <a:r>
              <a:rPr lang="en-US" sz="1200" b="0" dirty="0"/>
              <a:t> freehand 3d ultrasound reconstruction 	via deep contextual learning.</a:t>
            </a:r>
          </a:p>
          <a:p>
            <a:pPr marL="0" indent="0">
              <a:buNone/>
            </a:pPr>
            <a:r>
              <a:rPr lang="en-US" sz="1200" b="0" dirty="0"/>
              <a:t>[5] Qi Li et al. Tus-rec2024: A challenge to reconstruct 3d freehand ultrasound without external tracker.</a:t>
            </a:r>
          </a:p>
          <a:p>
            <a:pPr marL="0" indent="0">
              <a:buNone/>
            </a:pPr>
            <a:r>
              <a:rPr lang="en-US" sz="1200" b="0" dirty="0"/>
              <a:t>[6] Loïc </a:t>
            </a:r>
            <a:r>
              <a:rPr lang="en-US" sz="1200" b="0" dirty="0" err="1"/>
              <a:t>Tetrel</a:t>
            </a:r>
            <a:r>
              <a:rPr lang="en-US" sz="1200" b="0" dirty="0"/>
              <a:t>, </a:t>
            </a:r>
            <a:r>
              <a:rPr lang="en-US" sz="1200" b="0" dirty="0" err="1"/>
              <a:t>Hacène</a:t>
            </a:r>
            <a:r>
              <a:rPr lang="en-US" sz="1200" b="0" dirty="0"/>
              <a:t> </a:t>
            </a:r>
            <a:r>
              <a:rPr lang="en-US" sz="1200" b="0" dirty="0" err="1"/>
              <a:t>Chebrek</a:t>
            </a:r>
            <a:r>
              <a:rPr lang="en-US" sz="1200" b="0" dirty="0"/>
              <a:t>, and Catherine Laporte. Learning for graph-based </a:t>
            </a:r>
            <a:r>
              <a:rPr lang="en-US" sz="1200" b="0" dirty="0" err="1"/>
              <a:t>sensorless</a:t>
            </a:r>
            <a:r>
              <a:rPr lang="en-US" sz="1200" b="0" dirty="0"/>
              <a:t> freehand 3d 	ultrasound. In Li Wang, Ehsan Adeli, Qian Wang, </a:t>
            </a:r>
            <a:r>
              <a:rPr lang="en-US" sz="1200" b="0" dirty="0" err="1"/>
              <a:t>Yinghuan</a:t>
            </a:r>
            <a:r>
              <a:rPr lang="en-US" sz="1200" b="0" dirty="0"/>
              <a:t> Shi, and Heung-Il Suk, editors, Machine 	Learning in Medical Imaging, volume 10019 of Lecture Notes in Computer Science, pages 205–212. 	Springer International Publishing, Cham, 2016.</a:t>
            </a:r>
          </a:p>
          <a:p>
            <a:pPr marL="0" indent="0">
              <a:buNone/>
            </a:pPr>
            <a:r>
              <a:rPr lang="en-US" sz="1200" b="0" dirty="0"/>
              <a:t>[7] Paul F. R. Wilson et al. </a:t>
            </a:r>
            <a:r>
              <a:rPr lang="en-US" sz="1200" b="0" dirty="0" err="1"/>
              <a:t>Dualtrack</a:t>
            </a:r>
            <a:r>
              <a:rPr lang="en-US" sz="1200" b="0" dirty="0"/>
              <a:t>: </a:t>
            </a:r>
            <a:r>
              <a:rPr lang="en-US" sz="1200" b="0" dirty="0" err="1"/>
              <a:t>Sensorless</a:t>
            </a:r>
            <a:r>
              <a:rPr lang="en-US" sz="1200" b="0" dirty="0"/>
              <a:t> 3d ultrasound needs local and global context.</a:t>
            </a:r>
          </a:p>
          <a:p>
            <a:pPr marL="0" indent="0">
              <a:buNone/>
            </a:pPr>
            <a:r>
              <a:rPr lang="en-US" sz="1200" b="0" dirty="0"/>
              <a:t>[8] Feng Youyang, Wang Qing, and Yang </a:t>
            </a:r>
            <a:r>
              <a:rPr lang="en-US" sz="1200" b="0" dirty="0" err="1"/>
              <a:t>Gaochao</a:t>
            </a:r>
            <a:r>
              <a:rPr lang="en-US" sz="1200" b="0" dirty="0"/>
              <a:t>. Incremental 3-d pose graph optimization for slam algorithm 	without marginalization. International Journal of Advanced Robotic Systems, 17(3), 2020.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743976-F88F-8EA3-4956-5CE572957761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475F232-FFFE-5E6C-5554-2F165DAD28C0}" type="slidenum">
              <a:rPr lang="en-JP" smtClean="0"/>
              <a:t>18</a:t>
            </a:fld>
            <a:endParaRPr lang="en-JP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6FB61F-DD7F-7A53-FD78-61CDF0389224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rPr lang="en-US" dirty="0"/>
              <a:t>Sources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3186714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版活字">
  <a:themeElements>
    <a:clrScheme name="木版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版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版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Theme2">
  <a:themeElements>
    <a:clrScheme name="Theme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dc8989-56fb-4b1d-a38b-166581c893ff" xsi:nil="true"/>
    <lcf76f155ced4ddcb4097134ff3c332f xmlns="f61654bb-b7fc-45ad-85e3-d08f7c4a7ee2">
      <Terms xmlns="http://schemas.microsoft.com/office/infopath/2007/PartnerControls"/>
    </lcf76f155ced4ddcb4097134ff3c332f>
    <Title0 xmlns="f61654bb-b7fc-45ad-85e3-d08f7c4a7ee2" xsi:nil="true"/>
    <Year xmlns="f61654bb-b7fc-45ad-85e3-d08f7c4a7ee2" xsi:nil="true"/>
    <Author0 xmlns="f61654bb-b7fc-45ad-85e3-d08f7c4a7ee2" xsi:nil="true"/>
    <Authors xmlns="f61654bb-b7fc-45ad-85e3-d08f7c4a7ee2" xsi:nil="true"/>
    <NotebookType xmlns="f61654bb-b7fc-45ad-85e3-d08f7c4a7ee2" xsi:nil="true"/>
    <Templates xmlns="f61654bb-b7fc-45ad-85e3-d08f7c4a7ee2" xsi:nil="true"/>
    <AppVersion xmlns="f61654bb-b7fc-45ad-85e3-d08f7c4a7ee2" xsi:nil="true"/>
    <IsNotebookLocked xmlns="f61654bb-b7fc-45ad-85e3-d08f7c4a7ee2" xsi:nil="true"/>
    <Self_Registration_Enabled xmlns="f61654bb-b7fc-45ad-85e3-d08f7c4a7ee2" xsi:nil="true"/>
    <Has_Leaders_Only_SectionGroup xmlns="f61654bb-b7fc-45ad-85e3-d08f7c4a7ee2" xsi:nil="true"/>
    <Invited_Members xmlns="f61654bb-b7fc-45ad-85e3-d08f7c4a7ee2" xsi:nil="true"/>
    <Is_Collaboration_Space_Locked xmlns="f61654bb-b7fc-45ad-85e3-d08f7c4a7ee2" xsi:nil="true"/>
    <LMS_Mappings xmlns="f61654bb-b7fc-45ad-85e3-d08f7c4a7ee2" xsi:nil="true"/>
    <Invited_Leaders xmlns="f61654bb-b7fc-45ad-85e3-d08f7c4a7ee2" xsi:nil="true"/>
    <Math_Settings xmlns="f61654bb-b7fc-45ad-85e3-d08f7c4a7ee2" xsi:nil="true"/>
    <Members xmlns="f61654bb-b7fc-45ad-85e3-d08f7c4a7ee2">
      <UserInfo>
        <DisplayName/>
        <AccountId xsi:nil="true"/>
        <AccountType/>
      </UserInfo>
    </Members>
    <DefaultSectionNames xmlns="f61654bb-b7fc-45ad-85e3-d08f7c4a7ee2" xsi:nil="true"/>
    <TeamsChannelId xmlns="f61654bb-b7fc-45ad-85e3-d08f7c4a7ee2" xsi:nil="true"/>
    <FolderType xmlns="f61654bb-b7fc-45ad-85e3-d08f7c4a7ee2" xsi:nil="true"/>
    <Leaders xmlns="f61654bb-b7fc-45ad-85e3-d08f7c4a7ee2">
      <UserInfo>
        <DisplayName/>
        <AccountId xsi:nil="true"/>
        <AccountType/>
      </UserInfo>
    </Leaders>
    <Distribution_Groups xmlns="f61654bb-b7fc-45ad-85e3-d08f7c4a7ee2" xsi:nil="true"/>
    <Member_Groups xmlns="f61654bb-b7fc-45ad-85e3-d08f7c4a7ee2">
      <UserInfo>
        <DisplayName/>
        <AccountId xsi:nil="true"/>
        <AccountType/>
      </UserInfo>
    </Member_Groups>
    <Teams_Channel_Section_Location xmlns="f61654bb-b7fc-45ad-85e3-d08f7c4a7ee2" xsi:nil="true"/>
    <CultureName xmlns="f61654bb-b7fc-45ad-85e3-d08f7c4a7ee2" xsi:nil="true"/>
    <Owner xmlns="f61654bb-b7fc-45ad-85e3-d08f7c4a7ee2">
      <UserInfo>
        <DisplayName/>
        <AccountId xsi:nil="true"/>
        <AccountType/>
      </UserInfo>
    </Owner>
    <_x30a2__x30c3__x30d7__x30ed__x30fc__x30c9__x65e5__x4ed8_ xmlns="f61654bb-b7fc-45ad-85e3-d08f7c4a7ee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52A53F757E5E848A18782864458E644" ma:contentTypeVersion="43" ma:contentTypeDescription="新しいドキュメントを作成します。" ma:contentTypeScope="" ma:versionID="e58177412e1512208a553d6b419372bf">
  <xsd:schema xmlns:xsd="http://www.w3.org/2001/XMLSchema" xmlns:xs="http://www.w3.org/2001/XMLSchema" xmlns:p="http://schemas.microsoft.com/office/2006/metadata/properties" xmlns:ns2="f61654bb-b7fc-45ad-85e3-d08f7c4a7ee2" xmlns:ns3="bbdc8989-56fb-4b1d-a38b-166581c893ff" targetNamespace="http://schemas.microsoft.com/office/2006/metadata/properties" ma:root="true" ma:fieldsID="41a5810d8518a876aecc1f17313a65be" ns2:_="" ns3:_="">
    <xsd:import namespace="f61654bb-b7fc-45ad-85e3-d08f7c4a7ee2"/>
    <xsd:import namespace="bbdc8989-56fb-4b1d-a38b-166581c893ff"/>
    <xsd:element name="properties">
      <xsd:complexType>
        <xsd:sequence>
          <xsd:element name="documentManagement">
            <xsd:complexType>
              <xsd:all>
                <xsd:element ref="ns2:Author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Author0" minOccurs="0"/>
                <xsd:element ref="ns2:Title0" minOccurs="0"/>
                <xsd:element ref="ns2:Year" minOccurs="0"/>
                <xsd:element ref="ns2:MediaServiceObjectDetectorVersion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SearchProperties" minOccurs="0"/>
                <xsd:element ref="ns2:_x30a2__x30c3__x30d7__x30ed__x30fc__x30c9__x65e5__x4ed8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654bb-b7fc-45ad-85e3-d08f7c4a7ee2" elementFormDefault="qualified">
    <xsd:import namespace="http://schemas.microsoft.com/office/2006/documentManagement/types"/>
    <xsd:import namespace="http://schemas.microsoft.com/office/infopath/2007/PartnerControls"/>
    <xsd:element name="Authors" ma:index="2" nillable="true" ma:displayName="Authors" ma:format="Dropdown" ma:internalName="Authors" ma:readOnly="false">
      <xsd:simpleType>
        <xsd:restriction base="dms:Text">
          <xsd:maxLength value="255"/>
        </xsd:restriction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画像タグ" ma:readOnly="false" ma:fieldId="{5cf76f15-5ced-4ddc-b409-7134ff3c332f}" ma:taxonomyMulti="true" ma:sspId="753b2be4-fe80-4689-baed-1a5cffa426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hidden="true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Author0" ma:index="22" nillable="true" ma:displayName="Author" ma:format="Dropdown" ma:hidden="true" ma:internalName="Author0" ma:readOnly="false">
      <xsd:simpleType>
        <xsd:restriction base="dms:Text">
          <xsd:maxLength value="255"/>
        </xsd:restriction>
      </xsd:simpleType>
    </xsd:element>
    <xsd:element name="Title0" ma:index="23" nillable="true" ma:displayName="Title" ma:format="Dropdown" ma:internalName="Title0">
      <xsd:simpleType>
        <xsd:restriction base="dms:Text">
          <xsd:maxLength value="255"/>
        </xsd:restriction>
      </xsd:simpleType>
    </xsd:element>
    <xsd:element name="Year" ma:index="24" nillable="true" ma:displayName="Year" ma:format="Dropdown" ma:indexed="true" ma:internalName="Year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NotebookType" ma:index="26" nillable="true" ma:displayName="Notebook Type" ma:internalName="NotebookType">
      <xsd:simpleType>
        <xsd:restriction base="dms:Text"/>
      </xsd:simpleType>
    </xsd:element>
    <xsd:element name="FolderType" ma:index="27" nillable="true" ma:displayName="Folder Type" ma:internalName="FolderType">
      <xsd:simpleType>
        <xsd:restriction base="dms:Text"/>
      </xsd:simpleType>
    </xsd:element>
    <xsd:element name="CultureName" ma:index="28" nillable="true" ma:displayName="Culture Name" ma:internalName="CultureName">
      <xsd:simpleType>
        <xsd:restriction base="dms:Text"/>
      </xsd:simpleType>
    </xsd:element>
    <xsd:element name="AppVersion" ma:index="29" nillable="true" ma:displayName="App Version" ma:internalName="AppVersion">
      <xsd:simpleType>
        <xsd:restriction base="dms:Text"/>
      </xsd:simpleType>
    </xsd:element>
    <xsd:element name="TeamsChannelId" ma:index="30" nillable="true" ma:displayName="Teams Channel Id" ma:internalName="TeamsChannelId">
      <xsd:simpleType>
        <xsd:restriction base="dms:Text"/>
      </xsd:simpleType>
    </xsd:element>
    <xsd:element name="Owner" ma:index="31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32" nillable="true" ma:displayName="Math Settings" ma:internalName="Math_Settings">
      <xsd:simpleType>
        <xsd:restriction base="dms:Text"/>
      </xsd:simpleType>
    </xsd:element>
    <xsd:element name="DefaultSectionNames" ma:index="33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34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35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6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7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8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9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40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41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42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43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44" nillable="true" ma:displayName="Is Collaboration Space Locked" ma:internalName="Is_Collaboration_Space_Locked">
      <xsd:simpleType>
        <xsd:restriction base="dms:Boolean"/>
      </xsd:simpleType>
    </xsd:element>
    <xsd:element name="IsNotebookLocked" ma:index="45" nillable="true" ma:displayName="Is Notebook Locked" ma:internalName="IsNotebookLocked">
      <xsd:simpleType>
        <xsd:restriction base="dms:Boolean"/>
      </xsd:simpleType>
    </xsd:element>
    <xsd:element name="Teams_Channel_Section_Location" ma:index="46" nillable="true" ma:displayName="Teams Channel Section Location" ma:internalName="Teams_Channel_Section_Location">
      <xsd:simpleType>
        <xsd:restriction base="dms:Text"/>
      </xsd:simpleType>
    </xsd:element>
    <xsd:element name="MediaServiceSearchProperties" ma:index="4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x30a2__x30c3__x30d7__x30ed__x30fc__x30c9__x65e5__x4ed8_" ma:index="48" nillable="true" ma:displayName="アップロード日付" ma:format="Dropdown" ma:internalName="_x30a2__x30c3__x30d7__x30ed__x30fc__x30c9__x65e5__x4ed8_">
      <xsd:simpleType>
        <xsd:restriction base="dms:Text">
          <xsd:maxLength value="255"/>
        </xsd:restriction>
      </xsd:simpleType>
    </xsd:element>
    <xsd:element name="MediaServiceBillingMetadata" ma:index="4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dc8989-56fb-4b1d-a38b-166581c893f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21ce9b0-18e4-41e2-8ccf-cb74b8811c8e}" ma:internalName="TaxCatchAll" ma:readOnly="false" ma:showField="CatchAllData" ma:web="bbdc8989-56fb-4b1d-a38b-166581c893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共有相手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コンテンツ タイプ"/>
        <xsd:element ref="dc:title" minOccurs="0" maxOccurs="1" ma:index="1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6A834E-B1B5-46FD-BC6A-86110B9E53A8}">
  <ds:schemaRefs>
    <ds:schemaRef ds:uri="f61654bb-b7fc-45ad-85e3-d08f7c4a7ee2"/>
    <ds:schemaRef ds:uri="http://schemas.microsoft.com/office/infopath/2007/PartnerControls"/>
    <ds:schemaRef ds:uri="http://purl.org/dc/dcmitype/"/>
    <ds:schemaRef ds:uri="http://purl.org/dc/elements/1.1/"/>
    <ds:schemaRef ds:uri="bbdc8989-56fb-4b1d-a38b-166581c893ff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2D09310-C45E-477D-9B05-494A1C2D17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654bb-b7fc-45ad-85e3-d08f7c4a7ee2"/>
    <ds:schemaRef ds:uri="bbdc8989-56fb-4b1d-a38b-166581c893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A8BCAEC-5EDD-4F8B-8062-E645C37DAB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TM03090434[[fn=木版活字]]</Template>
  <TotalTime>895</TotalTime>
  <Words>1245</Words>
  <Application>Microsoft Office PowerPoint</Application>
  <PresentationFormat>On-screen Show (16:9)</PresentationFormat>
  <Paragraphs>260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Yu Gothic Medium</vt:lpstr>
      <vt:lpstr>Yu Gothic Medium</vt:lpstr>
      <vt:lpstr>Abadi</vt:lpstr>
      <vt:lpstr>Arial</vt:lpstr>
      <vt:lpstr>Cambria</vt:lpstr>
      <vt:lpstr>Cambria Math</vt:lpstr>
      <vt:lpstr>Rockwell</vt:lpstr>
      <vt:lpstr>Rockwell Condensed</vt:lpstr>
      <vt:lpstr>Wingdings</vt:lpstr>
      <vt:lpstr>木版活字</vt:lpstr>
      <vt:lpstr>Pose Graph Optimization for Vision-Only Freehand 3D Ultrasound Reconstruction</vt:lpstr>
      <vt:lpstr>Introduction</vt:lpstr>
      <vt:lpstr>How do we get the probes pose?</vt:lpstr>
      <vt:lpstr>Research proposal</vt:lpstr>
      <vt:lpstr>Pose Graph Optimization (PGO)</vt:lpstr>
      <vt:lpstr>Pose Graph Optimization (PGO)</vt:lpstr>
      <vt:lpstr>Methodology</vt:lpstr>
      <vt:lpstr>   Acquire pose predictions from DL model</vt:lpstr>
      <vt:lpstr>   Build initial pose graph</vt:lpstr>
      <vt:lpstr>   Detour</vt:lpstr>
      <vt:lpstr>   Detour</vt:lpstr>
      <vt:lpstr>   Add extra constraints</vt:lpstr>
      <vt:lpstr>   Add weights</vt:lpstr>
      <vt:lpstr>   Add weights</vt:lpstr>
      <vt:lpstr>   Apply PGO</vt:lpstr>
      <vt:lpstr>Error metrics</vt:lpstr>
      <vt:lpstr>Setup</vt:lpstr>
      <vt:lpstr>Sources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brgzg 2001</cp:lastModifiedBy>
  <cp:revision>504</cp:revision>
  <dcterms:created xsi:type="dcterms:W3CDTF">2020-07-20T06:28:23Z</dcterms:created>
  <dcterms:modified xsi:type="dcterms:W3CDTF">2026-05-08T02:31:23Z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0x010100352A53F757E5E848A18782864458E644</vt:lpwstr>
  </property>
  <property fmtid="{D5CDD505-2E9C-101B-9397-08002B2CF9AE}" pid="3" name="MediaServiceImageTags">
    <vt:lpwstr/>
  </property>
</Properties>
</file>